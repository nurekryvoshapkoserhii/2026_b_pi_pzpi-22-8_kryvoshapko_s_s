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Codec Pro Bold" panose="020B0604020202020204" charset="0"/>
      <p:regular r:id="rId14"/>
    </p:embeddedFont>
    <p:embeddedFont>
      <p:font typeface="Codec Pro Light" panose="020B0604020202020204" charset="0"/>
      <p:regular r:id="rId15"/>
    </p:embeddedFont>
    <p:embeddedFont>
      <p:font typeface="Economica" panose="020B0604020202020204" charset="0"/>
      <p:regular r:id="rId16"/>
      <p:bold r:id="rId17"/>
      <p:italic r:id="rId18"/>
      <p:boldItalic r:id="rId19"/>
    </p:embeddedFont>
    <p:embeddedFont>
      <p:font typeface="Open Sans" panose="020B0606030504020204" pitchFamily="34" charset="0"/>
      <p:regular r:id="rId20"/>
      <p:bold r:id="rId21"/>
      <p:italic r:id="rId22"/>
      <p:boldItalic r:id="rId23"/>
    </p:embeddedFont>
    <p:embeddedFont>
      <p:font typeface="Times New Roman Bold" panose="02020803070505020304" pitchFamily="18" charset="0"/>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3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101374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uk-UA"/>
              <a:t>Клацніть, щоб редагувати стиль зразка заголовка</a:t>
            </a:r>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r>
              <a:rPr lang="uk-UA"/>
              <a:t>Клацніть, щоб редагувати стиль зразка підзаголовка</a:t>
            </a:r>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uk-UA"/>
              <a:t>Клацніть, щоб редагувати стиль зразка заголовка</a:t>
            </a:r>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rPr lang="uk-UA"/>
              <a:t>Клацніть, щоб редагувати стиль зразка заголовка</a:t>
            </a:r>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uk-UA"/>
              <a:t>Клацніть, щоб редагувати стиль зразка заголовка</a:t>
            </a:r>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r>
              <a:rPr lang="uk-UA"/>
              <a:t>Клацніть, щоб редагувати стиль зразка заголовка</a:t>
            </a:r>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r>
              <a:rPr lang="uk-UA"/>
              <a:t>Клацніть, щоб редагувати стиль зразка підзаголовка</a:t>
            </a:r>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pPr lvl="0"/>
            <a:r>
              <a:rPr lang="uk-UA"/>
              <a:t>Клацніть, щоб відредагувати стилі зразків тексту</a:t>
            </a: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pPr lvl="0"/>
            <a:r>
              <a:rPr lang="uk-UA"/>
              <a:t>Клацніть, щоб відредагувати стилі зразків тексту</a:t>
            </a: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uk-UA"/>
              <a:t>Клацніть, щоб відредагувати стилі зразків тексту</a:t>
            </a: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Пустий слайд">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uk"/>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0.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05450" y="821300"/>
            <a:ext cx="3281100" cy="43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 sz="2400" dirty="0">
                <a:latin typeface="Times New Roman" panose="02020603050405020304" pitchFamily="18" charset="0"/>
                <a:cs typeface="Times New Roman" panose="02020603050405020304" pitchFamily="18" charset="0"/>
              </a:rPr>
              <a:t>Тема роботи </a:t>
            </a:r>
            <a:endParaRPr sz="2400" dirty="0">
              <a:latin typeface="Times New Roman" panose="02020603050405020304" pitchFamily="18" charset="0"/>
              <a:cs typeface="Times New Roman" panose="02020603050405020304" pitchFamily="18" charset="0"/>
            </a:endParaRPr>
          </a:p>
        </p:txBody>
      </p:sp>
      <p:sp>
        <p:nvSpPr>
          <p:cNvPr id="63" name="Google Shape;63;p13"/>
          <p:cNvSpPr txBox="1">
            <a:spLocks noGrp="1"/>
          </p:cNvSpPr>
          <p:nvPr>
            <p:ph type="subTitle" idx="1"/>
          </p:nvPr>
        </p:nvSpPr>
        <p:spPr>
          <a:xfrm>
            <a:off x="1522800" y="3439975"/>
            <a:ext cx="5087400" cy="1532700"/>
          </a:xfrm>
          <a:prstGeom prst="rect">
            <a:avLst/>
          </a:prstGeom>
        </p:spPr>
        <p:txBody>
          <a:bodyPr spcFirstLastPara="1" wrap="square" lIns="91425" tIns="91425" rIns="91425" bIns="91425" anchor="t" anchorCtr="0">
            <a:normAutofit fontScale="85000" lnSpcReduction="10000"/>
          </a:bodyPr>
          <a:lstStyle/>
          <a:p>
            <a:pPr marL="0" lvl="0" indent="0" algn="ctr" rtl="0">
              <a:spcBef>
                <a:spcPts val="0"/>
              </a:spcBef>
              <a:spcAft>
                <a:spcPts val="0"/>
              </a:spcAft>
              <a:buNone/>
            </a:pPr>
            <a:endParaRPr dirty="0"/>
          </a:p>
          <a:p>
            <a:pPr marL="0" lvl="0" indent="0" algn="l" rtl="0">
              <a:spcBef>
                <a:spcPts val="0"/>
              </a:spcBef>
              <a:spcAft>
                <a:spcPts val="0"/>
              </a:spcAft>
              <a:buNone/>
            </a:pPr>
            <a:r>
              <a:rPr lang="uk-UA" dirty="0">
                <a:latin typeface="Times New Roman" panose="02020603050405020304" pitchFamily="18" charset="0"/>
                <a:cs typeface="Times New Roman" panose="02020603050405020304" pitchFamily="18" charset="0"/>
              </a:rPr>
              <a:t>Виконав: </a:t>
            </a:r>
            <a:r>
              <a:rPr lang="uk-UA" dirty="0" err="1">
                <a:latin typeface="Times New Roman" panose="02020603050405020304" pitchFamily="18" charset="0"/>
                <a:cs typeface="Times New Roman" panose="02020603050405020304" pitchFamily="18" charset="0"/>
              </a:rPr>
              <a:t>Кривошапко</a:t>
            </a:r>
            <a:r>
              <a:rPr lang="uk-UA" dirty="0">
                <a:latin typeface="Times New Roman" panose="02020603050405020304" pitchFamily="18" charset="0"/>
                <a:cs typeface="Times New Roman" panose="02020603050405020304" pitchFamily="18" charset="0"/>
              </a:rPr>
              <a:t> С. С., ПЗПІ-22-8</a:t>
            </a:r>
            <a:endParaRPr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uk" dirty="0"/>
              <a:t>Керівник: ст. викл., кафедри ПІ Онищенко К. Г.</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US" dirty="0">
                <a:latin typeface="Times New Roman" panose="02020603050405020304" pitchFamily="18" charset="0"/>
                <a:cs typeface="Times New Roman" panose="02020603050405020304" pitchFamily="18" charset="0"/>
              </a:rPr>
              <a:t>10 </a:t>
            </a:r>
            <a:r>
              <a:rPr lang="uk-UA" dirty="0">
                <a:latin typeface="Times New Roman" panose="02020603050405020304" pitchFamily="18" charset="0"/>
                <a:cs typeface="Times New Roman" panose="02020603050405020304" pitchFamily="18" charset="0"/>
              </a:rPr>
              <a:t>липня</a:t>
            </a:r>
            <a:r>
              <a:rPr lang="uk" dirty="0">
                <a:latin typeface="Times New Roman" panose="02020603050405020304" pitchFamily="18" charset="0"/>
                <a:cs typeface="Times New Roman" panose="02020603050405020304" pitchFamily="18" charset="0"/>
              </a:rPr>
              <a:t> 202</a:t>
            </a:r>
            <a:r>
              <a:rPr lang="en-US" dirty="0">
                <a:latin typeface="Times New Roman" panose="02020603050405020304" pitchFamily="18" charset="0"/>
                <a:cs typeface="Times New Roman" panose="02020603050405020304" pitchFamily="18" charset="0"/>
              </a:rPr>
              <a:t>6</a:t>
            </a:r>
            <a:endParaRPr dirty="0">
              <a:latin typeface="Times New Roman" panose="02020603050405020304" pitchFamily="18" charset="0"/>
              <a:cs typeface="Times New Roman" panose="02020603050405020304" pitchFamily="18" charset="0"/>
            </a:endParaRPr>
          </a:p>
        </p:txBody>
      </p:sp>
      <p:pic>
        <p:nvPicPr>
          <p:cNvPr id="64" name="Google Shape;64;p13"/>
          <p:cNvPicPr preferRelativeResize="0"/>
          <p:nvPr/>
        </p:nvPicPr>
        <p:blipFill>
          <a:blip r:embed="rId3">
            <a:alphaModFix/>
          </a:blip>
          <a:stretch>
            <a:fillRect/>
          </a:stretch>
        </p:blipFill>
        <p:spPr>
          <a:xfrm>
            <a:off x="268925" y="4359500"/>
            <a:ext cx="862250" cy="581750"/>
          </a:xfrm>
          <a:prstGeom prst="rect">
            <a:avLst/>
          </a:prstGeom>
          <a:noFill/>
          <a:ln>
            <a:noFill/>
          </a:ln>
        </p:spPr>
      </p:pic>
      <p:pic>
        <p:nvPicPr>
          <p:cNvPr id="65" name="Google Shape;65;p13"/>
          <p:cNvPicPr preferRelativeResize="0"/>
          <p:nvPr/>
        </p:nvPicPr>
        <p:blipFill>
          <a:blip r:embed="rId4">
            <a:alphaModFix/>
          </a:blip>
          <a:stretch>
            <a:fillRect/>
          </a:stretch>
        </p:blipFill>
        <p:spPr>
          <a:xfrm>
            <a:off x="204725" y="170825"/>
            <a:ext cx="2133975" cy="389775"/>
          </a:xfrm>
          <a:prstGeom prst="rect">
            <a:avLst/>
          </a:prstGeom>
          <a:noFill/>
          <a:ln>
            <a:noFill/>
          </a:ln>
        </p:spPr>
      </p:pic>
      <p:pic>
        <p:nvPicPr>
          <p:cNvPr id="66" name="Google Shape;66;p13"/>
          <p:cNvPicPr preferRelativeResize="0"/>
          <p:nvPr/>
        </p:nvPicPr>
        <p:blipFill>
          <a:blip r:embed="rId5">
            <a:alphaModFix/>
          </a:blip>
          <a:stretch>
            <a:fillRect/>
          </a:stretch>
        </p:blipFill>
        <p:spPr>
          <a:xfrm>
            <a:off x="7068504" y="170825"/>
            <a:ext cx="1924921" cy="439175"/>
          </a:xfrm>
          <a:prstGeom prst="rect">
            <a:avLst/>
          </a:prstGeom>
          <a:noFill/>
          <a:ln>
            <a:noFill/>
          </a:ln>
        </p:spPr>
      </p:pic>
      <p:sp>
        <p:nvSpPr>
          <p:cNvPr id="3" name="TextBox 2">
            <a:extLst>
              <a:ext uri="{FF2B5EF4-FFF2-40B4-BE49-F238E27FC236}">
                <a16:creationId xmlns:a16="http://schemas.microsoft.com/office/drawing/2014/main" id="{047C218F-F2A6-4DD1-83BB-A20E7467E542}"/>
              </a:ext>
            </a:extLst>
          </p:cNvPr>
          <p:cNvSpPr txBox="1"/>
          <p:nvPr/>
        </p:nvSpPr>
        <p:spPr>
          <a:xfrm>
            <a:off x="1802725" y="2136884"/>
            <a:ext cx="5378450" cy="646331"/>
          </a:xfrm>
          <a:prstGeom prst="rect">
            <a:avLst/>
          </a:prstGeom>
          <a:noFill/>
        </p:spPr>
        <p:txBody>
          <a:bodyPr wrap="square">
            <a:spAutoFit/>
          </a:bodyPr>
          <a:lstStyle/>
          <a:p>
            <a:pPr algn="ctr"/>
            <a:r>
              <a:rPr lang="en-US" sz="1800" b="0" i="0" dirty="0" err="1">
                <a:effectLst/>
                <a:latin typeface="Times New Roman" panose="02020603050405020304" pitchFamily="18" charset="0"/>
                <a:cs typeface="Times New Roman" panose="02020603050405020304" pitchFamily="18" charset="0"/>
              </a:rPr>
              <a:t>Мобільний</a:t>
            </a:r>
            <a:r>
              <a:rPr lang="en-US" sz="1800" b="0" i="0" dirty="0">
                <a:effectLst/>
                <a:latin typeface="Times New Roman" panose="02020603050405020304" pitchFamily="18" charset="0"/>
                <a:cs typeface="Times New Roman" panose="02020603050405020304" pitchFamily="18" charset="0"/>
              </a:rPr>
              <a:t> </a:t>
            </a:r>
            <a:r>
              <a:rPr lang="en-US" sz="1800" b="0" i="0" dirty="0" err="1">
                <a:effectLst/>
                <a:latin typeface="Times New Roman" panose="02020603050405020304" pitchFamily="18" charset="0"/>
                <a:cs typeface="Times New Roman" panose="02020603050405020304" pitchFamily="18" charset="0"/>
              </a:rPr>
              <a:t>застосунок</a:t>
            </a:r>
            <a:r>
              <a:rPr lang="en-US" sz="1800" b="0" i="0" dirty="0">
                <a:effectLst/>
                <a:latin typeface="Times New Roman" panose="02020603050405020304" pitchFamily="18" charset="0"/>
                <a:cs typeface="Times New Roman" panose="02020603050405020304" pitchFamily="18" charset="0"/>
              </a:rPr>
              <a:t> </a:t>
            </a:r>
            <a:r>
              <a:rPr lang="en-US" sz="1800" b="0" i="0" dirty="0" err="1">
                <a:effectLst/>
                <a:latin typeface="Times New Roman" panose="02020603050405020304" pitchFamily="18" charset="0"/>
                <a:cs typeface="Times New Roman" panose="02020603050405020304" pitchFamily="18" charset="0"/>
              </a:rPr>
              <a:t>для</a:t>
            </a:r>
            <a:r>
              <a:rPr lang="en-US" sz="1800" b="0" i="0" dirty="0">
                <a:effectLst/>
                <a:latin typeface="Times New Roman" panose="02020603050405020304" pitchFamily="18" charset="0"/>
                <a:cs typeface="Times New Roman" panose="02020603050405020304" pitchFamily="18" charset="0"/>
              </a:rPr>
              <a:t> </a:t>
            </a:r>
            <a:r>
              <a:rPr lang="en-US" sz="1800" b="0" i="0" dirty="0" err="1">
                <a:effectLst/>
                <a:latin typeface="Times New Roman" panose="02020603050405020304" pitchFamily="18" charset="0"/>
                <a:cs typeface="Times New Roman" panose="02020603050405020304" pitchFamily="18" charset="0"/>
              </a:rPr>
              <a:t>управління</a:t>
            </a:r>
            <a:r>
              <a:rPr lang="en-US" sz="1800" b="0" i="0" dirty="0">
                <a:effectLst/>
                <a:latin typeface="Times New Roman" panose="02020603050405020304" pitchFamily="18" charset="0"/>
                <a:cs typeface="Times New Roman" panose="02020603050405020304" pitchFamily="18" charset="0"/>
              </a:rPr>
              <a:t> </a:t>
            </a:r>
            <a:r>
              <a:rPr lang="en-US" sz="1800" b="0" i="0" dirty="0" err="1">
                <a:effectLst/>
                <a:latin typeface="Times New Roman" panose="02020603050405020304" pitchFamily="18" charset="0"/>
                <a:cs typeface="Times New Roman" panose="02020603050405020304" pitchFamily="18" charset="0"/>
              </a:rPr>
              <a:t>особистою</a:t>
            </a:r>
            <a:r>
              <a:rPr lang="en-US" sz="1800" b="0" i="0" dirty="0">
                <a:effectLst/>
                <a:latin typeface="Times New Roman" panose="02020603050405020304" pitchFamily="18" charset="0"/>
                <a:cs typeface="Times New Roman" panose="02020603050405020304" pitchFamily="18" charset="0"/>
              </a:rPr>
              <a:t> </a:t>
            </a:r>
            <a:r>
              <a:rPr lang="en-US" sz="1800" b="0" i="0" dirty="0" err="1">
                <a:effectLst/>
                <a:latin typeface="Times New Roman" panose="02020603050405020304" pitchFamily="18" charset="0"/>
                <a:cs typeface="Times New Roman" panose="02020603050405020304" pitchFamily="18" charset="0"/>
              </a:rPr>
              <a:t>продуктивністю</a:t>
            </a:r>
            <a:r>
              <a:rPr lang="en-US" sz="1800" b="0" i="0" dirty="0">
                <a:effectLst/>
                <a:latin typeface="Times New Roman" panose="02020603050405020304" pitchFamily="18" charset="0"/>
                <a:cs typeface="Times New Roman" panose="02020603050405020304" pitchFamily="18" charset="0"/>
              </a:rPr>
              <a:t> </a:t>
            </a:r>
            <a:r>
              <a:rPr lang="en-US" sz="1800" b="0" i="0" dirty="0" err="1">
                <a:effectLst/>
                <a:latin typeface="Times New Roman" panose="02020603050405020304" pitchFamily="18" charset="0"/>
                <a:cs typeface="Times New Roman" panose="02020603050405020304" pitchFamily="18" charset="0"/>
              </a:rPr>
              <a:t>та</a:t>
            </a:r>
            <a:r>
              <a:rPr lang="en-US" sz="1800" b="0" i="0" dirty="0">
                <a:effectLst/>
                <a:latin typeface="Times New Roman" panose="02020603050405020304" pitchFamily="18" charset="0"/>
                <a:cs typeface="Times New Roman" panose="02020603050405020304" pitchFamily="18" charset="0"/>
              </a:rPr>
              <a:t> </a:t>
            </a:r>
            <a:r>
              <a:rPr lang="en-US" sz="1800" b="0" i="0" dirty="0" err="1">
                <a:effectLst/>
                <a:latin typeface="Times New Roman" panose="02020603050405020304" pitchFamily="18" charset="0"/>
                <a:cs typeface="Times New Roman" panose="02020603050405020304" pitchFamily="18" charset="0"/>
              </a:rPr>
              <a:t>щоденними</a:t>
            </a:r>
            <a:r>
              <a:rPr lang="en-US" sz="1800" b="0" i="0" dirty="0">
                <a:effectLst/>
                <a:latin typeface="Times New Roman" panose="02020603050405020304" pitchFamily="18" charset="0"/>
                <a:cs typeface="Times New Roman" panose="02020603050405020304" pitchFamily="18" charset="0"/>
              </a:rPr>
              <a:t> </a:t>
            </a:r>
            <a:r>
              <a:rPr lang="en-US" sz="1800" b="0" i="0" dirty="0" err="1">
                <a:effectLst/>
                <a:latin typeface="Times New Roman" panose="02020603050405020304" pitchFamily="18" charset="0"/>
                <a:cs typeface="Times New Roman" panose="02020603050405020304" pitchFamily="18" charset="0"/>
              </a:rPr>
              <a:t>активностями</a:t>
            </a:r>
            <a:r>
              <a:rPr lang="en-US" sz="1800" b="0" i="0" dirty="0">
                <a:effectLst/>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22339" y="1413898"/>
            <a:ext cx="2692850" cy="512961"/>
            <a:chOff x="0" y="19050"/>
            <a:chExt cx="7180934" cy="1367894"/>
          </a:xfrm>
        </p:grpSpPr>
        <p:sp>
          <p:nvSpPr>
            <p:cNvPr id="3" name="TextBox 3"/>
            <p:cNvSpPr txBox="1"/>
            <p:nvPr/>
          </p:nvSpPr>
          <p:spPr>
            <a:xfrm>
              <a:off x="2127435" y="546945"/>
              <a:ext cx="5053499" cy="387970"/>
            </a:xfrm>
            <a:prstGeom prst="rect">
              <a:avLst/>
            </a:prstGeom>
          </p:spPr>
          <p:txBody>
            <a:bodyPr lIns="0" tIns="0" rIns="0" bIns="0" rtlCol="0" anchor="t">
              <a:spAutoFit/>
            </a:bodyPr>
            <a:lstStyle/>
            <a:p>
              <a:pPr>
                <a:lnSpc>
                  <a:spcPts val="1320"/>
                </a:lnSpc>
              </a:pPr>
              <a:endParaRPr sz="700"/>
            </a:p>
          </p:txBody>
        </p:sp>
        <p:sp>
          <p:nvSpPr>
            <p:cNvPr id="4" name="TextBox 4"/>
            <p:cNvSpPr txBox="1"/>
            <p:nvPr/>
          </p:nvSpPr>
          <p:spPr>
            <a:xfrm>
              <a:off x="0" y="19050"/>
              <a:ext cx="1556808" cy="1367894"/>
            </a:xfrm>
            <a:prstGeom prst="rect">
              <a:avLst/>
            </a:prstGeom>
          </p:spPr>
          <p:txBody>
            <a:bodyPr lIns="0" tIns="0" rIns="0" bIns="0" rtlCol="0" anchor="t">
              <a:spAutoFit/>
            </a:bodyPr>
            <a:lstStyle/>
            <a:p>
              <a:pPr>
                <a:lnSpc>
                  <a:spcPts val="4000"/>
                </a:lnSpc>
              </a:pPr>
              <a:r>
                <a:rPr lang="en-US" sz="4000">
                  <a:solidFill>
                    <a:srgbClr val="C10404"/>
                  </a:solidFill>
                  <a:latin typeface="Codec Pro Light"/>
                  <a:ea typeface="Codec Pro Light"/>
                  <a:cs typeface="Codec Pro Light"/>
                  <a:sym typeface="Codec Pro Light"/>
                </a:rPr>
                <a:t>01</a:t>
              </a:r>
            </a:p>
          </p:txBody>
        </p:sp>
      </p:grpSp>
      <p:grpSp>
        <p:nvGrpSpPr>
          <p:cNvPr id="5" name="Group 5"/>
          <p:cNvGrpSpPr/>
          <p:nvPr/>
        </p:nvGrpSpPr>
        <p:grpSpPr>
          <a:xfrm>
            <a:off x="4922339" y="3046924"/>
            <a:ext cx="2692850" cy="512961"/>
            <a:chOff x="0" y="19050"/>
            <a:chExt cx="7180934" cy="1367894"/>
          </a:xfrm>
        </p:grpSpPr>
        <p:sp>
          <p:nvSpPr>
            <p:cNvPr id="6" name="TextBox 6"/>
            <p:cNvSpPr txBox="1"/>
            <p:nvPr/>
          </p:nvSpPr>
          <p:spPr>
            <a:xfrm>
              <a:off x="2127435" y="548745"/>
              <a:ext cx="5053499" cy="387970"/>
            </a:xfrm>
            <a:prstGeom prst="rect">
              <a:avLst/>
            </a:prstGeom>
          </p:spPr>
          <p:txBody>
            <a:bodyPr lIns="0" tIns="0" rIns="0" bIns="0" rtlCol="0" anchor="t">
              <a:spAutoFit/>
            </a:bodyPr>
            <a:lstStyle/>
            <a:p>
              <a:pPr>
                <a:lnSpc>
                  <a:spcPts val="1320"/>
                </a:lnSpc>
              </a:pPr>
              <a:endParaRPr sz="700"/>
            </a:p>
          </p:txBody>
        </p:sp>
        <p:sp>
          <p:nvSpPr>
            <p:cNvPr id="7" name="TextBox 7"/>
            <p:cNvSpPr txBox="1"/>
            <p:nvPr/>
          </p:nvSpPr>
          <p:spPr>
            <a:xfrm>
              <a:off x="0" y="19050"/>
              <a:ext cx="2127435" cy="1367894"/>
            </a:xfrm>
            <a:prstGeom prst="rect">
              <a:avLst/>
            </a:prstGeom>
          </p:spPr>
          <p:txBody>
            <a:bodyPr lIns="0" tIns="0" rIns="0" bIns="0" rtlCol="0" anchor="t">
              <a:spAutoFit/>
            </a:bodyPr>
            <a:lstStyle/>
            <a:p>
              <a:pPr>
                <a:lnSpc>
                  <a:spcPts val="4000"/>
                </a:lnSpc>
                <a:spcBef>
                  <a:spcPct val="0"/>
                </a:spcBef>
              </a:pPr>
              <a:r>
                <a:rPr lang="en-US" sz="4000">
                  <a:solidFill>
                    <a:srgbClr val="C10404"/>
                  </a:solidFill>
                  <a:latin typeface="Codec Pro Light"/>
                  <a:ea typeface="Codec Pro Light"/>
                  <a:cs typeface="Codec Pro Light"/>
                  <a:sym typeface="Codec Pro Light"/>
                </a:rPr>
                <a:t>03</a:t>
              </a:r>
            </a:p>
          </p:txBody>
        </p:sp>
      </p:grpSp>
      <p:grpSp>
        <p:nvGrpSpPr>
          <p:cNvPr id="8" name="Group 8"/>
          <p:cNvGrpSpPr/>
          <p:nvPr/>
        </p:nvGrpSpPr>
        <p:grpSpPr>
          <a:xfrm>
            <a:off x="4922339" y="2230411"/>
            <a:ext cx="2692850" cy="512961"/>
            <a:chOff x="0" y="19050"/>
            <a:chExt cx="7180934" cy="1367894"/>
          </a:xfrm>
        </p:grpSpPr>
        <p:sp>
          <p:nvSpPr>
            <p:cNvPr id="9" name="TextBox 9"/>
            <p:cNvSpPr txBox="1"/>
            <p:nvPr/>
          </p:nvSpPr>
          <p:spPr>
            <a:xfrm>
              <a:off x="2127435" y="546945"/>
              <a:ext cx="5053499" cy="387970"/>
            </a:xfrm>
            <a:prstGeom prst="rect">
              <a:avLst/>
            </a:prstGeom>
          </p:spPr>
          <p:txBody>
            <a:bodyPr lIns="0" tIns="0" rIns="0" bIns="0" rtlCol="0" anchor="t">
              <a:spAutoFit/>
            </a:bodyPr>
            <a:lstStyle/>
            <a:p>
              <a:pPr>
                <a:lnSpc>
                  <a:spcPts val="1320"/>
                </a:lnSpc>
              </a:pPr>
              <a:endParaRPr sz="700"/>
            </a:p>
          </p:txBody>
        </p:sp>
        <p:sp>
          <p:nvSpPr>
            <p:cNvPr id="10" name="TextBox 10"/>
            <p:cNvSpPr txBox="1"/>
            <p:nvPr/>
          </p:nvSpPr>
          <p:spPr>
            <a:xfrm>
              <a:off x="0" y="19050"/>
              <a:ext cx="2127435" cy="1367894"/>
            </a:xfrm>
            <a:prstGeom prst="rect">
              <a:avLst/>
            </a:prstGeom>
          </p:spPr>
          <p:txBody>
            <a:bodyPr lIns="0" tIns="0" rIns="0" bIns="0" rtlCol="0" anchor="t">
              <a:spAutoFit/>
            </a:bodyPr>
            <a:lstStyle/>
            <a:p>
              <a:pPr>
                <a:lnSpc>
                  <a:spcPts val="4000"/>
                </a:lnSpc>
                <a:spcBef>
                  <a:spcPct val="0"/>
                </a:spcBef>
              </a:pPr>
              <a:r>
                <a:rPr lang="en-US" sz="4000">
                  <a:solidFill>
                    <a:srgbClr val="C10404"/>
                  </a:solidFill>
                  <a:latin typeface="Codec Pro Light"/>
                  <a:ea typeface="Codec Pro Light"/>
                  <a:cs typeface="Codec Pro Light"/>
                  <a:sym typeface="Codec Pro Light"/>
                </a:rPr>
                <a:t>02</a:t>
              </a:r>
            </a:p>
          </p:txBody>
        </p:sp>
      </p:grpSp>
      <p:sp>
        <p:nvSpPr>
          <p:cNvPr id="11" name="TextBox 11"/>
          <p:cNvSpPr txBox="1"/>
          <p:nvPr/>
        </p:nvSpPr>
        <p:spPr>
          <a:xfrm>
            <a:off x="4922339" y="3865818"/>
            <a:ext cx="797788" cy="512961"/>
          </a:xfrm>
          <a:prstGeom prst="rect">
            <a:avLst/>
          </a:prstGeom>
        </p:spPr>
        <p:txBody>
          <a:bodyPr lIns="0" tIns="0" rIns="0" bIns="0" rtlCol="0" anchor="t">
            <a:spAutoFit/>
          </a:bodyPr>
          <a:lstStyle/>
          <a:p>
            <a:pPr>
              <a:lnSpc>
                <a:spcPts val="4000"/>
              </a:lnSpc>
              <a:spcBef>
                <a:spcPct val="0"/>
              </a:spcBef>
            </a:pPr>
            <a:r>
              <a:rPr lang="en-US" sz="4000">
                <a:solidFill>
                  <a:srgbClr val="C10404"/>
                </a:solidFill>
                <a:latin typeface="Codec Pro Light"/>
                <a:ea typeface="Codec Pro Light"/>
                <a:cs typeface="Codec Pro Light"/>
                <a:sym typeface="Codec Pro Light"/>
              </a:rPr>
              <a:t>04</a:t>
            </a:r>
          </a:p>
        </p:txBody>
      </p:sp>
      <p:sp>
        <p:nvSpPr>
          <p:cNvPr id="12" name="AutoShape 12"/>
          <p:cNvSpPr/>
          <p:nvPr/>
        </p:nvSpPr>
        <p:spPr>
          <a:xfrm>
            <a:off x="5720127" y="2108429"/>
            <a:ext cx="3002764" cy="0"/>
          </a:xfrm>
          <a:prstGeom prst="line">
            <a:avLst/>
          </a:prstGeom>
          <a:ln w="38100" cap="flat">
            <a:solidFill>
              <a:srgbClr val="CDDADE"/>
            </a:solidFill>
            <a:prstDash val="solid"/>
            <a:headEnd type="none" w="sm" len="sm"/>
            <a:tailEnd type="none" w="sm" len="sm"/>
          </a:ln>
        </p:spPr>
      </p:sp>
      <p:sp>
        <p:nvSpPr>
          <p:cNvPr id="13" name="AutoShape 13"/>
          <p:cNvSpPr/>
          <p:nvPr/>
        </p:nvSpPr>
        <p:spPr>
          <a:xfrm flipV="1">
            <a:off x="5744017" y="2773080"/>
            <a:ext cx="3002764" cy="0"/>
          </a:xfrm>
          <a:prstGeom prst="line">
            <a:avLst/>
          </a:prstGeom>
          <a:ln w="38100" cap="flat">
            <a:solidFill>
              <a:srgbClr val="CDDADE"/>
            </a:solidFill>
            <a:prstDash val="solid"/>
            <a:headEnd type="none" w="sm" len="sm"/>
            <a:tailEnd type="none" w="sm" len="sm"/>
          </a:ln>
        </p:spPr>
      </p:sp>
      <p:sp>
        <p:nvSpPr>
          <p:cNvPr id="14" name="AutoShape 14"/>
          <p:cNvSpPr/>
          <p:nvPr/>
        </p:nvSpPr>
        <p:spPr>
          <a:xfrm flipV="1">
            <a:off x="5720127" y="3751249"/>
            <a:ext cx="3002764" cy="0"/>
          </a:xfrm>
          <a:prstGeom prst="line">
            <a:avLst/>
          </a:prstGeom>
          <a:ln w="38100" cap="flat">
            <a:solidFill>
              <a:srgbClr val="CDDADE"/>
            </a:solidFill>
            <a:prstDash val="solid"/>
            <a:headEnd type="none" w="sm" len="sm"/>
            <a:tailEnd type="none" w="sm" len="sm"/>
          </a:ln>
        </p:spPr>
      </p:sp>
      <p:sp>
        <p:nvSpPr>
          <p:cNvPr id="15" name="TextBox 15"/>
          <p:cNvSpPr txBox="1"/>
          <p:nvPr/>
        </p:nvSpPr>
        <p:spPr>
          <a:xfrm>
            <a:off x="3165348" y="176041"/>
            <a:ext cx="3054312" cy="461665"/>
          </a:xfrm>
          <a:prstGeom prst="rect">
            <a:avLst/>
          </a:prstGeom>
        </p:spPr>
        <p:txBody>
          <a:bodyPr lIns="0" tIns="0" rIns="0" bIns="0" rtlCol="0" anchor="t">
            <a:spAutoFit/>
          </a:bodyPr>
          <a:lstStyle/>
          <a:p>
            <a:pPr>
              <a:lnSpc>
                <a:spcPts val="3600"/>
              </a:lnSpc>
              <a:spcBef>
                <a:spcPct val="0"/>
              </a:spcBef>
            </a:pPr>
            <a:r>
              <a:rPr lang="en-US" sz="3600" b="1">
                <a:solidFill>
                  <a:srgbClr val="1C191A"/>
                </a:solidFill>
                <a:latin typeface="Times New Roman Bold"/>
                <a:ea typeface="Times New Roman Bold"/>
                <a:cs typeface="Times New Roman Bold"/>
                <a:sym typeface="Times New Roman Bold"/>
              </a:rPr>
              <a:t>Мета роботи</a:t>
            </a:r>
          </a:p>
        </p:txBody>
      </p:sp>
      <p:sp>
        <p:nvSpPr>
          <p:cNvPr id="16" name="TextBox 16"/>
          <p:cNvSpPr txBox="1"/>
          <p:nvPr/>
        </p:nvSpPr>
        <p:spPr>
          <a:xfrm>
            <a:off x="406116" y="2188721"/>
            <a:ext cx="3865715" cy="923330"/>
          </a:xfrm>
          <a:prstGeom prst="rect">
            <a:avLst/>
          </a:prstGeom>
        </p:spPr>
        <p:txBody>
          <a:bodyPr lIns="0" tIns="0" rIns="0" bIns="0" rtlCol="0" anchor="t">
            <a:spAutoFit/>
          </a:bodyPr>
          <a:lstStyle/>
          <a:p>
            <a:pPr algn="ctr">
              <a:lnSpc>
                <a:spcPts val="1760"/>
              </a:lnSpc>
              <a:spcBef>
                <a:spcPct val="0"/>
              </a:spcBef>
            </a:pPr>
            <a:r>
              <a:rPr lang="en-US" sz="1600" b="1">
                <a:latin typeface="Times New Roman Bold"/>
                <a:ea typeface="Times New Roman Bold"/>
                <a:cs typeface="Times New Roman Bold"/>
                <a:sym typeface="Times New Roman Bold"/>
              </a:rPr>
              <a:t>Основна мета: </a:t>
            </a:r>
            <a:r>
              <a:rPr lang="en-US" sz="1600">
                <a:latin typeface="Times New Roman"/>
                <a:ea typeface="Times New Roman"/>
                <a:cs typeface="Times New Roman"/>
                <a:sym typeface="Times New Roman"/>
              </a:rPr>
              <a:t>створення комплексного мобільного інструменту, який об'єднує ключові аспекти повсякденного життя користувача в єдиній екосистемі.</a:t>
            </a:r>
          </a:p>
        </p:txBody>
      </p:sp>
      <p:sp>
        <p:nvSpPr>
          <p:cNvPr id="17" name="TextBox 17"/>
          <p:cNvSpPr txBox="1"/>
          <p:nvPr/>
        </p:nvSpPr>
        <p:spPr>
          <a:xfrm>
            <a:off x="5293109" y="771754"/>
            <a:ext cx="3328616" cy="564257"/>
          </a:xfrm>
          <a:prstGeom prst="rect">
            <a:avLst/>
          </a:prstGeom>
        </p:spPr>
        <p:txBody>
          <a:bodyPr lIns="0" tIns="0" rIns="0" bIns="0" rtlCol="0" anchor="t">
            <a:spAutoFit/>
          </a:bodyPr>
          <a:lstStyle/>
          <a:p>
            <a:pPr algn="ctr">
              <a:lnSpc>
                <a:spcPts val="2200"/>
              </a:lnSpc>
              <a:spcBef>
                <a:spcPct val="0"/>
              </a:spcBef>
            </a:pPr>
            <a:r>
              <a:rPr lang="en-US" sz="2000" b="1">
                <a:latin typeface="Times New Roman Bold"/>
                <a:ea typeface="Times New Roman Bold"/>
                <a:cs typeface="Times New Roman Bold"/>
                <a:sym typeface="Times New Roman Bold"/>
              </a:rPr>
              <a:t>Ключові напрямки розробки</a:t>
            </a:r>
          </a:p>
        </p:txBody>
      </p:sp>
      <p:sp>
        <p:nvSpPr>
          <p:cNvPr id="18" name="TextBox 18"/>
          <p:cNvSpPr txBox="1"/>
          <p:nvPr/>
        </p:nvSpPr>
        <p:spPr>
          <a:xfrm>
            <a:off x="5720127" y="1457078"/>
            <a:ext cx="3002764" cy="500137"/>
          </a:xfrm>
          <a:prstGeom prst="rect">
            <a:avLst/>
          </a:prstGeom>
        </p:spPr>
        <p:txBody>
          <a:bodyPr lIns="0" tIns="0" rIns="0" bIns="0" rtlCol="0" anchor="t">
            <a:spAutoFit/>
          </a:bodyPr>
          <a:lstStyle/>
          <a:p>
            <a:pPr>
              <a:lnSpc>
                <a:spcPts val="1320"/>
              </a:lnSpc>
              <a:spcBef>
                <a:spcPct val="0"/>
              </a:spcBef>
            </a:pPr>
            <a:r>
              <a:rPr lang="en-US" sz="1200">
                <a:latin typeface="Times New Roman"/>
                <a:ea typeface="Times New Roman"/>
                <a:cs typeface="Times New Roman"/>
                <a:sym typeface="Times New Roman"/>
              </a:rPr>
              <a:t>Забезпечення зручного контролю за особистими фінансами, завданнями та емоційним станом.</a:t>
            </a:r>
          </a:p>
        </p:txBody>
      </p:sp>
      <p:sp>
        <p:nvSpPr>
          <p:cNvPr id="19" name="TextBox 19"/>
          <p:cNvSpPr txBox="1"/>
          <p:nvPr/>
        </p:nvSpPr>
        <p:spPr>
          <a:xfrm>
            <a:off x="5720127" y="2273051"/>
            <a:ext cx="3050544" cy="333425"/>
          </a:xfrm>
          <a:prstGeom prst="rect">
            <a:avLst/>
          </a:prstGeom>
        </p:spPr>
        <p:txBody>
          <a:bodyPr lIns="0" tIns="0" rIns="0" bIns="0" rtlCol="0" anchor="t">
            <a:spAutoFit/>
          </a:bodyPr>
          <a:lstStyle/>
          <a:p>
            <a:pPr>
              <a:lnSpc>
                <a:spcPts val="1320"/>
              </a:lnSpc>
              <a:spcBef>
                <a:spcPct val="0"/>
              </a:spcBef>
            </a:pPr>
            <a:r>
              <a:rPr lang="en-US" sz="1200">
                <a:latin typeface="Times New Roman"/>
                <a:ea typeface="Times New Roman"/>
                <a:cs typeface="Times New Roman"/>
                <a:sym typeface="Times New Roman"/>
              </a:rPr>
              <a:t>Створення інтуїтивно зрозумілого інтерфейсу з використанням сучасних  підходів</a:t>
            </a:r>
          </a:p>
        </p:txBody>
      </p:sp>
      <p:sp>
        <p:nvSpPr>
          <p:cNvPr id="20" name="TextBox 20"/>
          <p:cNvSpPr txBox="1"/>
          <p:nvPr/>
        </p:nvSpPr>
        <p:spPr>
          <a:xfrm>
            <a:off x="5720127" y="3090103"/>
            <a:ext cx="3050544" cy="500137"/>
          </a:xfrm>
          <a:prstGeom prst="rect">
            <a:avLst/>
          </a:prstGeom>
        </p:spPr>
        <p:txBody>
          <a:bodyPr lIns="0" tIns="0" rIns="0" bIns="0" rtlCol="0" anchor="t">
            <a:spAutoFit/>
          </a:bodyPr>
          <a:lstStyle/>
          <a:p>
            <a:pPr>
              <a:lnSpc>
                <a:spcPts val="1320"/>
              </a:lnSpc>
              <a:spcBef>
                <a:spcPct val="0"/>
              </a:spcBef>
            </a:pPr>
            <a:r>
              <a:rPr lang="en-US" sz="1200">
                <a:latin typeface="Times New Roman"/>
                <a:ea typeface="Times New Roman"/>
                <a:cs typeface="Times New Roman"/>
                <a:sym typeface="Times New Roman"/>
              </a:rPr>
              <a:t>Інтеграція зовнішніх сервісів через REST API для автоматизованого збору метрик та розширення персональної аналітики.</a:t>
            </a:r>
          </a:p>
        </p:txBody>
      </p:sp>
      <p:sp>
        <p:nvSpPr>
          <p:cNvPr id="21" name="TextBox 21"/>
          <p:cNvSpPr txBox="1"/>
          <p:nvPr/>
        </p:nvSpPr>
        <p:spPr>
          <a:xfrm>
            <a:off x="5720127" y="3908411"/>
            <a:ext cx="2901599" cy="666849"/>
          </a:xfrm>
          <a:prstGeom prst="rect">
            <a:avLst/>
          </a:prstGeom>
        </p:spPr>
        <p:txBody>
          <a:bodyPr lIns="0" tIns="0" rIns="0" bIns="0" rtlCol="0" anchor="t">
            <a:spAutoFit/>
          </a:bodyPr>
          <a:lstStyle/>
          <a:p>
            <a:pPr>
              <a:lnSpc>
                <a:spcPts val="1320"/>
              </a:lnSpc>
              <a:spcBef>
                <a:spcPct val="0"/>
              </a:spcBef>
            </a:pPr>
            <a:r>
              <a:rPr lang="en-US" sz="1200">
                <a:latin typeface="Times New Roman"/>
                <a:ea typeface="Times New Roman"/>
                <a:cs typeface="Times New Roman"/>
                <a:sym typeface="Times New Roman"/>
              </a:rPr>
              <a:t>Розробка екосистеми інтерактивних віджетів для забезпечення швидкого доступу до функцій додатку безпосередньо з домашнього екрана ОС Android.</a:t>
            </a:r>
          </a:p>
        </p:txBody>
      </p:sp>
      <p:sp>
        <p:nvSpPr>
          <p:cNvPr id="22" name="AutoShape 22"/>
          <p:cNvSpPr/>
          <p:nvPr/>
        </p:nvSpPr>
        <p:spPr>
          <a:xfrm>
            <a:off x="5669544" y="4738039"/>
            <a:ext cx="3002764" cy="0"/>
          </a:xfrm>
          <a:prstGeom prst="line">
            <a:avLst/>
          </a:prstGeom>
          <a:ln w="38100" cap="flat">
            <a:solidFill>
              <a:srgbClr val="CDDADE"/>
            </a:solidFill>
            <a:prstDash val="solid"/>
            <a:headEnd type="none" w="sm" len="sm"/>
            <a:tailEnd type="none" w="sm" len="sm"/>
          </a:ln>
        </p:spPr>
      </p:sp>
      <p:sp>
        <p:nvSpPr>
          <p:cNvPr id="23" name="TextBox 23"/>
          <p:cNvSpPr txBox="1"/>
          <p:nvPr/>
        </p:nvSpPr>
        <p:spPr>
          <a:xfrm>
            <a:off x="403213" y="4283075"/>
            <a:ext cx="222275" cy="576504"/>
          </a:xfrm>
          <a:prstGeom prst="rect">
            <a:avLst/>
          </a:prstGeom>
        </p:spPr>
        <p:txBody>
          <a:bodyPr lIns="0" tIns="0" rIns="0" bIns="0" rtlCol="0" anchor="t">
            <a:spAutoFit/>
          </a:bodyPr>
          <a:lstStyle/>
          <a:p>
            <a:pPr algn="ctr">
              <a:lnSpc>
                <a:spcPts val="4900"/>
              </a:lnSpc>
              <a:spcBef>
                <a:spcPct val="0"/>
              </a:spcBef>
            </a:pPr>
            <a:r>
              <a:rPr lang="en-US" sz="3499">
                <a:latin typeface="Times New Roman"/>
                <a:ea typeface="Times New Roman"/>
                <a:cs typeface="Times New Roman"/>
                <a:sym typeface="Times New Roman"/>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6939" y="1537309"/>
            <a:ext cx="3740148" cy="1505396"/>
            <a:chOff x="0" y="0"/>
            <a:chExt cx="1970119" cy="792966"/>
          </a:xfrm>
        </p:grpSpPr>
        <p:sp>
          <p:nvSpPr>
            <p:cNvPr id="3" name="Freeform 3"/>
            <p:cNvSpPr/>
            <p:nvPr/>
          </p:nvSpPr>
          <p:spPr>
            <a:xfrm>
              <a:off x="0" y="0"/>
              <a:ext cx="1970119" cy="792966"/>
            </a:xfrm>
            <a:custGeom>
              <a:avLst/>
              <a:gdLst/>
              <a:ahLst/>
              <a:cxnLst/>
              <a:rect l="l" t="t" r="r" b="b"/>
              <a:pathLst>
                <a:path w="1970119" h="792966">
                  <a:moveTo>
                    <a:pt x="0" y="0"/>
                  </a:moveTo>
                  <a:lnTo>
                    <a:pt x="1970119" y="0"/>
                  </a:lnTo>
                  <a:lnTo>
                    <a:pt x="1970119" y="792966"/>
                  </a:lnTo>
                  <a:lnTo>
                    <a:pt x="0" y="792966"/>
                  </a:lnTo>
                  <a:close/>
                </a:path>
              </a:pathLst>
            </a:custGeom>
            <a:solidFill>
              <a:srgbClr val="F3F5F8"/>
            </a:solidFill>
          </p:spPr>
        </p:sp>
        <p:sp>
          <p:nvSpPr>
            <p:cNvPr id="4" name="TextBox 4"/>
            <p:cNvSpPr txBox="1"/>
            <p:nvPr/>
          </p:nvSpPr>
          <p:spPr>
            <a:xfrm>
              <a:off x="0" y="-19050"/>
              <a:ext cx="1970119" cy="812016"/>
            </a:xfrm>
            <a:prstGeom prst="rect">
              <a:avLst/>
            </a:prstGeom>
          </p:spPr>
          <p:txBody>
            <a:bodyPr lIns="25400" tIns="25400" rIns="25400" bIns="25400" rtlCol="0" anchor="ctr"/>
            <a:lstStyle/>
            <a:p>
              <a:pPr algn="ctr">
                <a:lnSpc>
                  <a:spcPts val="1320"/>
                </a:lnSpc>
              </a:pPr>
              <a:endParaRPr sz="700"/>
            </a:p>
          </p:txBody>
        </p:sp>
      </p:grpSp>
      <p:grpSp>
        <p:nvGrpSpPr>
          <p:cNvPr id="5" name="Group 5"/>
          <p:cNvGrpSpPr/>
          <p:nvPr/>
        </p:nvGrpSpPr>
        <p:grpSpPr>
          <a:xfrm>
            <a:off x="776939" y="3182512"/>
            <a:ext cx="3740148" cy="1446639"/>
            <a:chOff x="0" y="0"/>
            <a:chExt cx="1970119" cy="762015"/>
          </a:xfrm>
        </p:grpSpPr>
        <p:sp>
          <p:nvSpPr>
            <p:cNvPr id="6" name="Freeform 6"/>
            <p:cNvSpPr/>
            <p:nvPr/>
          </p:nvSpPr>
          <p:spPr>
            <a:xfrm>
              <a:off x="0" y="0"/>
              <a:ext cx="1970119" cy="762015"/>
            </a:xfrm>
            <a:custGeom>
              <a:avLst/>
              <a:gdLst/>
              <a:ahLst/>
              <a:cxnLst/>
              <a:rect l="l" t="t" r="r" b="b"/>
              <a:pathLst>
                <a:path w="1970119" h="762015">
                  <a:moveTo>
                    <a:pt x="0" y="0"/>
                  </a:moveTo>
                  <a:lnTo>
                    <a:pt x="1970119" y="0"/>
                  </a:lnTo>
                  <a:lnTo>
                    <a:pt x="1970119" y="762015"/>
                  </a:lnTo>
                  <a:lnTo>
                    <a:pt x="0" y="762015"/>
                  </a:lnTo>
                  <a:close/>
                </a:path>
              </a:pathLst>
            </a:custGeom>
            <a:solidFill>
              <a:srgbClr val="F3F5F8"/>
            </a:solidFill>
          </p:spPr>
        </p:sp>
        <p:sp>
          <p:nvSpPr>
            <p:cNvPr id="7" name="TextBox 7"/>
            <p:cNvSpPr txBox="1"/>
            <p:nvPr/>
          </p:nvSpPr>
          <p:spPr>
            <a:xfrm>
              <a:off x="0" y="-19050"/>
              <a:ext cx="1970119" cy="781065"/>
            </a:xfrm>
            <a:prstGeom prst="rect">
              <a:avLst/>
            </a:prstGeom>
          </p:spPr>
          <p:txBody>
            <a:bodyPr lIns="25400" tIns="25400" rIns="25400" bIns="25400" rtlCol="0" anchor="ctr"/>
            <a:lstStyle/>
            <a:p>
              <a:pPr algn="ctr">
                <a:lnSpc>
                  <a:spcPts val="1320"/>
                </a:lnSpc>
              </a:pPr>
              <a:endParaRPr sz="700"/>
            </a:p>
          </p:txBody>
        </p:sp>
      </p:grpSp>
      <p:grpSp>
        <p:nvGrpSpPr>
          <p:cNvPr id="8" name="Group 8"/>
          <p:cNvGrpSpPr/>
          <p:nvPr/>
        </p:nvGrpSpPr>
        <p:grpSpPr>
          <a:xfrm>
            <a:off x="4626914" y="1537309"/>
            <a:ext cx="3740148" cy="1505396"/>
            <a:chOff x="0" y="0"/>
            <a:chExt cx="1970119" cy="792966"/>
          </a:xfrm>
        </p:grpSpPr>
        <p:sp>
          <p:nvSpPr>
            <p:cNvPr id="9" name="Freeform 9"/>
            <p:cNvSpPr/>
            <p:nvPr/>
          </p:nvSpPr>
          <p:spPr>
            <a:xfrm>
              <a:off x="0" y="0"/>
              <a:ext cx="1970119" cy="792966"/>
            </a:xfrm>
            <a:custGeom>
              <a:avLst/>
              <a:gdLst/>
              <a:ahLst/>
              <a:cxnLst/>
              <a:rect l="l" t="t" r="r" b="b"/>
              <a:pathLst>
                <a:path w="1970119" h="792966">
                  <a:moveTo>
                    <a:pt x="0" y="0"/>
                  </a:moveTo>
                  <a:lnTo>
                    <a:pt x="1970119" y="0"/>
                  </a:lnTo>
                  <a:lnTo>
                    <a:pt x="1970119" y="792966"/>
                  </a:lnTo>
                  <a:lnTo>
                    <a:pt x="0" y="792966"/>
                  </a:lnTo>
                  <a:close/>
                </a:path>
              </a:pathLst>
            </a:custGeom>
            <a:solidFill>
              <a:srgbClr val="F3F5F8"/>
            </a:solidFill>
          </p:spPr>
        </p:sp>
        <p:sp>
          <p:nvSpPr>
            <p:cNvPr id="10" name="TextBox 10"/>
            <p:cNvSpPr txBox="1"/>
            <p:nvPr/>
          </p:nvSpPr>
          <p:spPr>
            <a:xfrm>
              <a:off x="0" y="-19050"/>
              <a:ext cx="1970119" cy="812016"/>
            </a:xfrm>
            <a:prstGeom prst="rect">
              <a:avLst/>
            </a:prstGeom>
          </p:spPr>
          <p:txBody>
            <a:bodyPr lIns="25400" tIns="25400" rIns="25400" bIns="25400" rtlCol="0" anchor="ctr"/>
            <a:lstStyle/>
            <a:p>
              <a:pPr algn="ctr">
                <a:lnSpc>
                  <a:spcPts val="1320"/>
                </a:lnSpc>
              </a:pPr>
              <a:endParaRPr sz="700"/>
            </a:p>
          </p:txBody>
        </p:sp>
      </p:grpSp>
      <p:grpSp>
        <p:nvGrpSpPr>
          <p:cNvPr id="11" name="Group 11"/>
          <p:cNvGrpSpPr/>
          <p:nvPr/>
        </p:nvGrpSpPr>
        <p:grpSpPr>
          <a:xfrm>
            <a:off x="4626914" y="3182512"/>
            <a:ext cx="3740148" cy="1446639"/>
            <a:chOff x="0" y="0"/>
            <a:chExt cx="1970119" cy="762015"/>
          </a:xfrm>
        </p:grpSpPr>
        <p:sp>
          <p:nvSpPr>
            <p:cNvPr id="12" name="Freeform 12"/>
            <p:cNvSpPr/>
            <p:nvPr/>
          </p:nvSpPr>
          <p:spPr>
            <a:xfrm>
              <a:off x="0" y="0"/>
              <a:ext cx="1970119" cy="762015"/>
            </a:xfrm>
            <a:custGeom>
              <a:avLst/>
              <a:gdLst/>
              <a:ahLst/>
              <a:cxnLst/>
              <a:rect l="l" t="t" r="r" b="b"/>
              <a:pathLst>
                <a:path w="1970119" h="762015">
                  <a:moveTo>
                    <a:pt x="0" y="0"/>
                  </a:moveTo>
                  <a:lnTo>
                    <a:pt x="1970119" y="0"/>
                  </a:lnTo>
                  <a:lnTo>
                    <a:pt x="1970119" y="762015"/>
                  </a:lnTo>
                  <a:lnTo>
                    <a:pt x="0" y="762015"/>
                  </a:lnTo>
                  <a:close/>
                </a:path>
              </a:pathLst>
            </a:custGeom>
            <a:solidFill>
              <a:srgbClr val="F3F5F8"/>
            </a:solidFill>
          </p:spPr>
        </p:sp>
        <p:sp>
          <p:nvSpPr>
            <p:cNvPr id="13" name="TextBox 13"/>
            <p:cNvSpPr txBox="1"/>
            <p:nvPr/>
          </p:nvSpPr>
          <p:spPr>
            <a:xfrm>
              <a:off x="0" y="-19050"/>
              <a:ext cx="1970119" cy="781065"/>
            </a:xfrm>
            <a:prstGeom prst="rect">
              <a:avLst/>
            </a:prstGeom>
          </p:spPr>
          <p:txBody>
            <a:bodyPr lIns="25400" tIns="25400" rIns="25400" bIns="25400" rtlCol="0" anchor="ctr"/>
            <a:lstStyle/>
            <a:p>
              <a:pPr algn="ctr">
                <a:lnSpc>
                  <a:spcPts val="1320"/>
                </a:lnSpc>
              </a:pPr>
              <a:endParaRPr sz="700"/>
            </a:p>
          </p:txBody>
        </p:sp>
      </p:grpSp>
      <p:sp>
        <p:nvSpPr>
          <p:cNvPr id="14" name="Freeform 14"/>
          <p:cNvSpPr/>
          <p:nvPr/>
        </p:nvSpPr>
        <p:spPr>
          <a:xfrm>
            <a:off x="4911440" y="1860823"/>
            <a:ext cx="680888" cy="663556"/>
          </a:xfrm>
          <a:custGeom>
            <a:avLst/>
            <a:gdLst/>
            <a:ahLst/>
            <a:cxnLst/>
            <a:rect l="l" t="t" r="r" b="b"/>
            <a:pathLst>
              <a:path w="1361775" h="1327111">
                <a:moveTo>
                  <a:pt x="0" y="0"/>
                </a:moveTo>
                <a:lnTo>
                  <a:pt x="1361774" y="0"/>
                </a:lnTo>
                <a:lnTo>
                  <a:pt x="1361774" y="1327111"/>
                </a:lnTo>
                <a:lnTo>
                  <a:pt x="0" y="132711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Freeform 15"/>
          <p:cNvSpPr/>
          <p:nvPr/>
        </p:nvSpPr>
        <p:spPr>
          <a:xfrm>
            <a:off x="1046567" y="3611802"/>
            <a:ext cx="709281" cy="588059"/>
          </a:xfrm>
          <a:custGeom>
            <a:avLst/>
            <a:gdLst/>
            <a:ahLst/>
            <a:cxnLst/>
            <a:rect l="l" t="t" r="r" b="b"/>
            <a:pathLst>
              <a:path w="1418562" h="1176117">
                <a:moveTo>
                  <a:pt x="0" y="0"/>
                </a:moveTo>
                <a:lnTo>
                  <a:pt x="1418561" y="0"/>
                </a:lnTo>
                <a:lnTo>
                  <a:pt x="1418561" y="1176117"/>
                </a:lnTo>
                <a:lnTo>
                  <a:pt x="0" y="117611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16"/>
          <p:cNvSpPr/>
          <p:nvPr/>
        </p:nvSpPr>
        <p:spPr>
          <a:xfrm>
            <a:off x="4813830" y="3505281"/>
            <a:ext cx="663556" cy="663556"/>
          </a:xfrm>
          <a:custGeom>
            <a:avLst/>
            <a:gdLst/>
            <a:ahLst/>
            <a:cxnLst/>
            <a:rect l="l" t="t" r="r" b="b"/>
            <a:pathLst>
              <a:path w="1327111" h="1327111">
                <a:moveTo>
                  <a:pt x="0" y="0"/>
                </a:moveTo>
                <a:lnTo>
                  <a:pt x="1327111" y="0"/>
                </a:lnTo>
                <a:lnTo>
                  <a:pt x="1327111" y="1327111"/>
                </a:lnTo>
                <a:lnTo>
                  <a:pt x="0" y="13271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a:off x="1095368" y="1889456"/>
            <a:ext cx="611678" cy="663556"/>
          </a:xfrm>
          <a:custGeom>
            <a:avLst/>
            <a:gdLst/>
            <a:ahLst/>
            <a:cxnLst/>
            <a:rect l="l" t="t" r="r" b="b"/>
            <a:pathLst>
              <a:path w="1223355" h="1327111">
                <a:moveTo>
                  <a:pt x="0" y="0"/>
                </a:moveTo>
                <a:lnTo>
                  <a:pt x="1223355" y="0"/>
                </a:lnTo>
                <a:lnTo>
                  <a:pt x="1223355" y="1327112"/>
                </a:lnTo>
                <a:lnTo>
                  <a:pt x="0" y="132711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8" name="TextBox 18"/>
          <p:cNvSpPr txBox="1"/>
          <p:nvPr/>
        </p:nvSpPr>
        <p:spPr>
          <a:xfrm>
            <a:off x="184698" y="374306"/>
            <a:ext cx="8884432" cy="461665"/>
          </a:xfrm>
          <a:prstGeom prst="rect">
            <a:avLst/>
          </a:prstGeom>
        </p:spPr>
        <p:txBody>
          <a:bodyPr lIns="0" tIns="0" rIns="0" bIns="0" rtlCol="0" anchor="t">
            <a:spAutoFit/>
          </a:bodyPr>
          <a:lstStyle/>
          <a:p>
            <a:pPr algn="ctr">
              <a:lnSpc>
                <a:spcPts val="3600"/>
              </a:lnSpc>
              <a:spcBef>
                <a:spcPct val="0"/>
              </a:spcBef>
            </a:pPr>
            <a:r>
              <a:rPr lang="en-US" sz="3600" b="1">
                <a:solidFill>
                  <a:srgbClr val="1C191A"/>
                </a:solidFill>
                <a:latin typeface="Times New Roman Bold"/>
                <a:ea typeface="Times New Roman Bold"/>
                <a:cs typeface="Times New Roman Bold"/>
                <a:sym typeface="Times New Roman Bold"/>
              </a:rPr>
              <a:t>Аналіз проблеми (аналіз існуючих рішень) </a:t>
            </a:r>
          </a:p>
        </p:txBody>
      </p:sp>
      <p:sp>
        <p:nvSpPr>
          <p:cNvPr id="19" name="TextBox 19"/>
          <p:cNvSpPr txBox="1"/>
          <p:nvPr/>
        </p:nvSpPr>
        <p:spPr>
          <a:xfrm>
            <a:off x="1911871" y="1892022"/>
            <a:ext cx="2543593" cy="945259"/>
          </a:xfrm>
          <a:prstGeom prst="rect">
            <a:avLst/>
          </a:prstGeom>
        </p:spPr>
        <p:txBody>
          <a:bodyPr lIns="0" tIns="0" rIns="0" bIns="0" rtlCol="0" anchor="t">
            <a:spAutoFit/>
          </a:bodyPr>
          <a:lstStyle/>
          <a:p>
            <a:pPr>
              <a:lnSpc>
                <a:spcPts val="1470"/>
              </a:lnSpc>
              <a:spcBef>
                <a:spcPct val="0"/>
              </a:spcBef>
            </a:pPr>
            <a:r>
              <a:rPr lang="en-US" sz="1050" spc="-21">
                <a:solidFill>
                  <a:srgbClr val="2A2E30"/>
                </a:solidFill>
                <a:latin typeface="Times New Roman"/>
                <a:ea typeface="Times New Roman"/>
                <a:cs typeface="Times New Roman"/>
                <a:sym typeface="Times New Roman"/>
              </a:rPr>
              <a:t>Сучасний користувач страждає від "фрагментації додатків" - необхідності використовувати 3-5 різних програм для трекінгу фінансів, звичок, задач та настрою. Це розпорошує увагу та знижує ефективність.</a:t>
            </a:r>
          </a:p>
        </p:txBody>
      </p:sp>
      <p:sp>
        <p:nvSpPr>
          <p:cNvPr id="20" name="TextBox 20"/>
          <p:cNvSpPr txBox="1"/>
          <p:nvPr/>
        </p:nvSpPr>
        <p:spPr>
          <a:xfrm>
            <a:off x="1911871" y="3591006"/>
            <a:ext cx="2543593" cy="945259"/>
          </a:xfrm>
          <a:prstGeom prst="rect">
            <a:avLst/>
          </a:prstGeom>
        </p:spPr>
        <p:txBody>
          <a:bodyPr lIns="0" tIns="0" rIns="0" bIns="0" rtlCol="0" anchor="t">
            <a:spAutoFit/>
          </a:bodyPr>
          <a:lstStyle/>
          <a:p>
            <a:pPr>
              <a:lnSpc>
                <a:spcPts val="1470"/>
              </a:lnSpc>
              <a:spcBef>
                <a:spcPct val="0"/>
              </a:spcBef>
            </a:pPr>
            <a:r>
              <a:rPr lang="en-US" sz="1050" spc="-21">
                <a:solidFill>
                  <a:srgbClr val="2A2E30"/>
                </a:solidFill>
                <a:latin typeface="Times New Roman"/>
                <a:ea typeface="Times New Roman"/>
                <a:cs typeface="Times New Roman"/>
                <a:sym typeface="Times New Roman"/>
              </a:rPr>
              <a:t>Замість встановлення окремих програм, LifeHub пропонує готову екосистему. Головний екран збирає всю найважливішу статистику за день в одному місці, забезпечуючи швидкий доступ до даних </a:t>
            </a:r>
          </a:p>
        </p:txBody>
      </p:sp>
      <p:sp>
        <p:nvSpPr>
          <p:cNvPr id="21" name="TextBox 21"/>
          <p:cNvSpPr txBox="1"/>
          <p:nvPr/>
        </p:nvSpPr>
        <p:spPr>
          <a:xfrm>
            <a:off x="1911871" y="1660548"/>
            <a:ext cx="2419862" cy="179536"/>
          </a:xfrm>
          <a:prstGeom prst="rect">
            <a:avLst/>
          </a:prstGeom>
        </p:spPr>
        <p:txBody>
          <a:bodyPr lIns="0" tIns="0" rIns="0" bIns="0" rtlCol="0" anchor="t">
            <a:spAutoFit/>
          </a:bodyPr>
          <a:lstStyle/>
          <a:p>
            <a:pPr>
              <a:lnSpc>
                <a:spcPts val="1430"/>
              </a:lnSpc>
            </a:pPr>
            <a:r>
              <a:rPr lang="en-US" sz="1300" b="1">
                <a:solidFill>
                  <a:srgbClr val="1C191A"/>
                </a:solidFill>
                <a:latin typeface="Times New Roman Bold"/>
                <a:ea typeface="Times New Roman Bold"/>
                <a:cs typeface="Times New Roman Bold"/>
                <a:sym typeface="Times New Roman Bold"/>
              </a:rPr>
              <a:t>Проблематика</a:t>
            </a:r>
          </a:p>
        </p:txBody>
      </p:sp>
      <p:sp>
        <p:nvSpPr>
          <p:cNvPr id="22" name="TextBox 22"/>
          <p:cNvSpPr txBox="1"/>
          <p:nvPr/>
        </p:nvSpPr>
        <p:spPr>
          <a:xfrm>
            <a:off x="1911871" y="3312558"/>
            <a:ext cx="1209931" cy="179536"/>
          </a:xfrm>
          <a:prstGeom prst="rect">
            <a:avLst/>
          </a:prstGeom>
        </p:spPr>
        <p:txBody>
          <a:bodyPr lIns="0" tIns="0" rIns="0" bIns="0" rtlCol="0" anchor="t">
            <a:spAutoFit/>
          </a:bodyPr>
          <a:lstStyle/>
          <a:p>
            <a:pPr>
              <a:lnSpc>
                <a:spcPts val="1430"/>
              </a:lnSpc>
            </a:pPr>
            <a:r>
              <a:rPr lang="en-US" sz="1300" b="1">
                <a:solidFill>
                  <a:srgbClr val="1C191A"/>
                </a:solidFill>
                <a:latin typeface="Times New Roman Bold"/>
                <a:ea typeface="Times New Roman Bold"/>
                <a:cs typeface="Times New Roman Bold"/>
                <a:sym typeface="Times New Roman Bold"/>
              </a:rPr>
              <a:t>Актуальність</a:t>
            </a:r>
          </a:p>
        </p:txBody>
      </p:sp>
      <p:sp>
        <p:nvSpPr>
          <p:cNvPr id="23" name="TextBox 23"/>
          <p:cNvSpPr txBox="1"/>
          <p:nvPr/>
        </p:nvSpPr>
        <p:spPr>
          <a:xfrm>
            <a:off x="5750690" y="2146486"/>
            <a:ext cx="2419862" cy="368178"/>
          </a:xfrm>
          <a:prstGeom prst="rect">
            <a:avLst/>
          </a:prstGeom>
        </p:spPr>
        <p:txBody>
          <a:bodyPr lIns="0" tIns="0" rIns="0" bIns="0" rtlCol="0" anchor="t">
            <a:spAutoFit/>
          </a:bodyPr>
          <a:lstStyle/>
          <a:p>
            <a:pPr>
              <a:lnSpc>
                <a:spcPts val="1470"/>
              </a:lnSpc>
              <a:spcBef>
                <a:spcPct val="0"/>
              </a:spcBef>
            </a:pPr>
            <a:r>
              <a:rPr lang="en-US" sz="1050" spc="-21">
                <a:solidFill>
                  <a:srgbClr val="2A2E30"/>
                </a:solidFill>
                <a:latin typeface="Times New Roman"/>
                <a:ea typeface="Times New Roman"/>
                <a:cs typeface="Times New Roman"/>
                <a:sym typeface="Times New Roman"/>
              </a:rPr>
              <a:t>Todoist (лише задачі), Wallet (лише фінанси), Daylio (лише настрій)</a:t>
            </a:r>
          </a:p>
        </p:txBody>
      </p:sp>
      <p:sp>
        <p:nvSpPr>
          <p:cNvPr id="24" name="TextBox 24"/>
          <p:cNvSpPr txBox="1"/>
          <p:nvPr/>
        </p:nvSpPr>
        <p:spPr>
          <a:xfrm>
            <a:off x="5761847" y="3591006"/>
            <a:ext cx="2419862" cy="752898"/>
          </a:xfrm>
          <a:prstGeom prst="rect">
            <a:avLst/>
          </a:prstGeom>
        </p:spPr>
        <p:txBody>
          <a:bodyPr lIns="0" tIns="0" rIns="0" bIns="0" rtlCol="0" anchor="t">
            <a:spAutoFit/>
          </a:bodyPr>
          <a:lstStyle/>
          <a:p>
            <a:pPr>
              <a:lnSpc>
                <a:spcPts val="1470"/>
              </a:lnSpc>
              <a:spcBef>
                <a:spcPct val="0"/>
              </a:spcBef>
            </a:pPr>
            <a:r>
              <a:rPr lang="en-US" sz="1050" spc="-21">
                <a:solidFill>
                  <a:srgbClr val="2A2E30"/>
                </a:solidFill>
                <a:latin typeface="Times New Roman"/>
                <a:ea typeface="Times New Roman"/>
                <a:cs typeface="Times New Roman"/>
                <a:sym typeface="Times New Roman"/>
              </a:rPr>
              <a:t>Синергія модулів. Наприклад, можливість побачити кореляцію між настроєм, продуктивністю та часом, проведеним у смартфоні.</a:t>
            </a:r>
          </a:p>
        </p:txBody>
      </p:sp>
      <p:sp>
        <p:nvSpPr>
          <p:cNvPr id="25" name="TextBox 25"/>
          <p:cNvSpPr txBox="1"/>
          <p:nvPr/>
        </p:nvSpPr>
        <p:spPr>
          <a:xfrm>
            <a:off x="5750690" y="1660548"/>
            <a:ext cx="1492596" cy="179536"/>
          </a:xfrm>
          <a:prstGeom prst="rect">
            <a:avLst/>
          </a:prstGeom>
        </p:spPr>
        <p:txBody>
          <a:bodyPr lIns="0" tIns="0" rIns="0" bIns="0" rtlCol="0" anchor="t">
            <a:spAutoFit/>
          </a:bodyPr>
          <a:lstStyle/>
          <a:p>
            <a:pPr>
              <a:lnSpc>
                <a:spcPts val="1430"/>
              </a:lnSpc>
            </a:pPr>
            <a:r>
              <a:rPr lang="en-US" sz="1300" b="1">
                <a:solidFill>
                  <a:srgbClr val="1C191A"/>
                </a:solidFill>
                <a:latin typeface="Times New Roman Bold"/>
                <a:ea typeface="Times New Roman Bold"/>
                <a:cs typeface="Times New Roman Bold"/>
                <a:sym typeface="Times New Roman Bold"/>
              </a:rPr>
              <a:t>Аналоги на ринку</a:t>
            </a:r>
          </a:p>
        </p:txBody>
      </p:sp>
      <p:sp>
        <p:nvSpPr>
          <p:cNvPr id="26" name="TextBox 26"/>
          <p:cNvSpPr txBox="1"/>
          <p:nvPr/>
        </p:nvSpPr>
        <p:spPr>
          <a:xfrm>
            <a:off x="5761847" y="3312558"/>
            <a:ext cx="735141" cy="179536"/>
          </a:xfrm>
          <a:prstGeom prst="rect">
            <a:avLst/>
          </a:prstGeom>
        </p:spPr>
        <p:txBody>
          <a:bodyPr lIns="0" tIns="0" rIns="0" bIns="0" rtlCol="0" anchor="t">
            <a:spAutoFit/>
          </a:bodyPr>
          <a:lstStyle/>
          <a:p>
            <a:pPr>
              <a:lnSpc>
                <a:spcPts val="1430"/>
              </a:lnSpc>
            </a:pPr>
            <a:r>
              <a:rPr lang="en-US" sz="1300" b="1">
                <a:solidFill>
                  <a:srgbClr val="1C191A"/>
                </a:solidFill>
                <a:latin typeface="Times New Roman Bold"/>
                <a:ea typeface="Times New Roman Bold"/>
                <a:cs typeface="Times New Roman Bold"/>
                <a:sym typeface="Times New Roman Bold"/>
              </a:rPr>
              <a:t>Перевага</a:t>
            </a:r>
          </a:p>
        </p:txBody>
      </p:sp>
      <p:sp>
        <p:nvSpPr>
          <p:cNvPr id="27" name="TextBox 27"/>
          <p:cNvSpPr txBox="1"/>
          <p:nvPr/>
        </p:nvSpPr>
        <p:spPr>
          <a:xfrm>
            <a:off x="403213" y="4283075"/>
            <a:ext cx="222275" cy="576504"/>
          </a:xfrm>
          <a:prstGeom prst="rect">
            <a:avLst/>
          </a:prstGeom>
        </p:spPr>
        <p:txBody>
          <a:bodyPr lIns="0" tIns="0" rIns="0" bIns="0" rtlCol="0" anchor="t">
            <a:spAutoFit/>
          </a:bodyPr>
          <a:lstStyle/>
          <a:p>
            <a:pPr algn="ctr">
              <a:lnSpc>
                <a:spcPts val="4900"/>
              </a:lnSpc>
              <a:spcBef>
                <a:spcPct val="0"/>
              </a:spcBef>
            </a:pPr>
            <a:r>
              <a:rPr lang="en-US" sz="3499">
                <a:latin typeface="Times New Roman"/>
                <a:ea typeface="Times New Roman"/>
                <a:cs typeface="Times New Roman"/>
                <a:sym typeface="Times New Roman"/>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9995" y="1420661"/>
            <a:ext cx="2908070" cy="2625726"/>
            <a:chOff x="0" y="0"/>
            <a:chExt cx="1531823" cy="1383098"/>
          </a:xfrm>
        </p:grpSpPr>
        <p:sp>
          <p:nvSpPr>
            <p:cNvPr id="3" name="Freeform 3"/>
            <p:cNvSpPr/>
            <p:nvPr/>
          </p:nvSpPr>
          <p:spPr>
            <a:xfrm>
              <a:off x="0" y="0"/>
              <a:ext cx="1531823" cy="1383098"/>
            </a:xfrm>
            <a:custGeom>
              <a:avLst/>
              <a:gdLst/>
              <a:ahLst/>
              <a:cxnLst/>
              <a:rect l="l" t="t" r="r" b="b"/>
              <a:pathLst>
                <a:path w="1531823" h="1383098">
                  <a:moveTo>
                    <a:pt x="31947" y="0"/>
                  </a:moveTo>
                  <a:lnTo>
                    <a:pt x="1499876" y="0"/>
                  </a:lnTo>
                  <a:cubicBezTo>
                    <a:pt x="1508349" y="0"/>
                    <a:pt x="1516474" y="3366"/>
                    <a:pt x="1522466" y="9357"/>
                  </a:cubicBezTo>
                  <a:cubicBezTo>
                    <a:pt x="1528457" y="15348"/>
                    <a:pt x="1531823" y="23474"/>
                    <a:pt x="1531823" y="31947"/>
                  </a:cubicBezTo>
                  <a:lnTo>
                    <a:pt x="1531823" y="1351152"/>
                  </a:lnTo>
                  <a:cubicBezTo>
                    <a:pt x="1531823" y="1368795"/>
                    <a:pt x="1517520" y="1383098"/>
                    <a:pt x="1499876" y="1383098"/>
                  </a:cubicBezTo>
                  <a:lnTo>
                    <a:pt x="31947" y="1383098"/>
                  </a:lnTo>
                  <a:cubicBezTo>
                    <a:pt x="23474" y="1383098"/>
                    <a:pt x="15348" y="1379732"/>
                    <a:pt x="9357" y="1373741"/>
                  </a:cubicBezTo>
                  <a:cubicBezTo>
                    <a:pt x="3366" y="1367750"/>
                    <a:pt x="0" y="1359624"/>
                    <a:pt x="0" y="1351152"/>
                  </a:cubicBezTo>
                  <a:lnTo>
                    <a:pt x="0" y="31947"/>
                  </a:lnTo>
                  <a:cubicBezTo>
                    <a:pt x="0" y="23474"/>
                    <a:pt x="3366" y="15348"/>
                    <a:pt x="9357" y="9357"/>
                  </a:cubicBezTo>
                  <a:cubicBezTo>
                    <a:pt x="15348" y="3366"/>
                    <a:pt x="23474" y="0"/>
                    <a:pt x="31947" y="0"/>
                  </a:cubicBezTo>
                  <a:close/>
                </a:path>
              </a:pathLst>
            </a:custGeom>
            <a:solidFill>
              <a:srgbClr val="F3F5F8"/>
            </a:solidFill>
            <a:ln w="19050" cap="rnd">
              <a:solidFill>
                <a:srgbClr val="1C191A"/>
              </a:solidFill>
              <a:prstDash val="solid"/>
              <a:round/>
            </a:ln>
          </p:spPr>
        </p:sp>
        <p:sp>
          <p:nvSpPr>
            <p:cNvPr id="4" name="TextBox 4"/>
            <p:cNvSpPr txBox="1"/>
            <p:nvPr/>
          </p:nvSpPr>
          <p:spPr>
            <a:xfrm>
              <a:off x="0" y="-76200"/>
              <a:ext cx="1531823" cy="1459298"/>
            </a:xfrm>
            <a:prstGeom prst="rect">
              <a:avLst/>
            </a:prstGeom>
          </p:spPr>
          <p:txBody>
            <a:bodyPr lIns="25400" tIns="25400" rIns="25400" bIns="25400" rtlCol="0" anchor="ctr"/>
            <a:lstStyle/>
            <a:p>
              <a:pPr algn="ctr">
                <a:lnSpc>
                  <a:spcPts val="1400"/>
                </a:lnSpc>
                <a:spcBef>
                  <a:spcPct val="0"/>
                </a:spcBef>
              </a:pPr>
              <a:endParaRPr sz="700"/>
            </a:p>
          </p:txBody>
        </p:sp>
      </p:grpSp>
      <p:grpSp>
        <p:nvGrpSpPr>
          <p:cNvPr id="5" name="Group 5"/>
          <p:cNvGrpSpPr/>
          <p:nvPr/>
        </p:nvGrpSpPr>
        <p:grpSpPr>
          <a:xfrm>
            <a:off x="5034583" y="1420661"/>
            <a:ext cx="2908070" cy="2625726"/>
            <a:chOff x="0" y="0"/>
            <a:chExt cx="1531823" cy="1383098"/>
          </a:xfrm>
        </p:grpSpPr>
        <p:sp>
          <p:nvSpPr>
            <p:cNvPr id="6" name="Freeform 6"/>
            <p:cNvSpPr/>
            <p:nvPr/>
          </p:nvSpPr>
          <p:spPr>
            <a:xfrm>
              <a:off x="0" y="0"/>
              <a:ext cx="1531823" cy="1383098"/>
            </a:xfrm>
            <a:custGeom>
              <a:avLst/>
              <a:gdLst/>
              <a:ahLst/>
              <a:cxnLst/>
              <a:rect l="l" t="t" r="r" b="b"/>
              <a:pathLst>
                <a:path w="1531823" h="1383098">
                  <a:moveTo>
                    <a:pt x="31947" y="0"/>
                  </a:moveTo>
                  <a:lnTo>
                    <a:pt x="1499876" y="0"/>
                  </a:lnTo>
                  <a:cubicBezTo>
                    <a:pt x="1508349" y="0"/>
                    <a:pt x="1516474" y="3366"/>
                    <a:pt x="1522466" y="9357"/>
                  </a:cubicBezTo>
                  <a:cubicBezTo>
                    <a:pt x="1528457" y="15348"/>
                    <a:pt x="1531823" y="23474"/>
                    <a:pt x="1531823" y="31947"/>
                  </a:cubicBezTo>
                  <a:lnTo>
                    <a:pt x="1531823" y="1351152"/>
                  </a:lnTo>
                  <a:cubicBezTo>
                    <a:pt x="1531823" y="1368795"/>
                    <a:pt x="1517520" y="1383098"/>
                    <a:pt x="1499876" y="1383098"/>
                  </a:cubicBezTo>
                  <a:lnTo>
                    <a:pt x="31947" y="1383098"/>
                  </a:lnTo>
                  <a:cubicBezTo>
                    <a:pt x="23474" y="1383098"/>
                    <a:pt x="15348" y="1379732"/>
                    <a:pt x="9357" y="1373741"/>
                  </a:cubicBezTo>
                  <a:cubicBezTo>
                    <a:pt x="3366" y="1367750"/>
                    <a:pt x="0" y="1359624"/>
                    <a:pt x="0" y="1351152"/>
                  </a:cubicBezTo>
                  <a:lnTo>
                    <a:pt x="0" y="31947"/>
                  </a:lnTo>
                  <a:cubicBezTo>
                    <a:pt x="0" y="23474"/>
                    <a:pt x="3366" y="15348"/>
                    <a:pt x="9357" y="9357"/>
                  </a:cubicBezTo>
                  <a:cubicBezTo>
                    <a:pt x="15348" y="3366"/>
                    <a:pt x="23474" y="0"/>
                    <a:pt x="31947" y="0"/>
                  </a:cubicBezTo>
                  <a:close/>
                </a:path>
              </a:pathLst>
            </a:custGeom>
            <a:solidFill>
              <a:srgbClr val="F3F5F8"/>
            </a:solidFill>
            <a:ln w="19050" cap="rnd">
              <a:solidFill>
                <a:srgbClr val="1C191A"/>
              </a:solidFill>
              <a:prstDash val="solid"/>
              <a:round/>
            </a:ln>
          </p:spPr>
        </p:sp>
        <p:sp>
          <p:nvSpPr>
            <p:cNvPr id="7" name="TextBox 7"/>
            <p:cNvSpPr txBox="1"/>
            <p:nvPr/>
          </p:nvSpPr>
          <p:spPr>
            <a:xfrm>
              <a:off x="0" y="-76200"/>
              <a:ext cx="1531823" cy="1459298"/>
            </a:xfrm>
            <a:prstGeom prst="rect">
              <a:avLst/>
            </a:prstGeom>
          </p:spPr>
          <p:txBody>
            <a:bodyPr lIns="25400" tIns="25400" rIns="25400" bIns="25400" rtlCol="0" anchor="ctr"/>
            <a:lstStyle/>
            <a:p>
              <a:pPr algn="ctr">
                <a:lnSpc>
                  <a:spcPts val="1400"/>
                </a:lnSpc>
                <a:spcBef>
                  <a:spcPct val="0"/>
                </a:spcBef>
              </a:pPr>
              <a:endParaRPr sz="700"/>
            </a:p>
          </p:txBody>
        </p:sp>
      </p:grpSp>
      <p:sp>
        <p:nvSpPr>
          <p:cNvPr id="8" name="TextBox 8"/>
          <p:cNvSpPr txBox="1"/>
          <p:nvPr/>
        </p:nvSpPr>
        <p:spPr>
          <a:xfrm>
            <a:off x="2474030" y="93864"/>
            <a:ext cx="4240717" cy="923330"/>
          </a:xfrm>
          <a:prstGeom prst="rect">
            <a:avLst/>
          </a:prstGeom>
        </p:spPr>
        <p:txBody>
          <a:bodyPr wrap="square" lIns="0" tIns="0" rIns="0" bIns="0" rtlCol="0" anchor="t">
            <a:spAutoFit/>
          </a:bodyPr>
          <a:lstStyle/>
          <a:p>
            <a:pPr algn="ctr">
              <a:lnSpc>
                <a:spcPts val="3600"/>
              </a:lnSpc>
              <a:spcBef>
                <a:spcPct val="0"/>
              </a:spcBef>
            </a:pPr>
            <a:r>
              <a:rPr lang="en-US" sz="3600" b="1" dirty="0" err="1">
                <a:solidFill>
                  <a:srgbClr val="1C191A"/>
                </a:solidFill>
                <a:latin typeface="Times New Roman Bold"/>
                <a:ea typeface="Times New Roman Bold"/>
                <a:cs typeface="Times New Roman Bold"/>
                <a:sym typeface="Times New Roman Bold"/>
              </a:rPr>
              <a:t>Постановка</a:t>
            </a:r>
            <a:r>
              <a:rPr lang="en-US" sz="3600" b="1" dirty="0">
                <a:solidFill>
                  <a:srgbClr val="1C191A"/>
                </a:solidFill>
                <a:latin typeface="Times New Roman Bold"/>
                <a:ea typeface="Times New Roman Bold"/>
                <a:cs typeface="Times New Roman Bold"/>
                <a:sym typeface="Times New Roman Bold"/>
              </a:rPr>
              <a:t> </a:t>
            </a:r>
            <a:r>
              <a:rPr lang="en-US" sz="3600" b="1" dirty="0" err="1">
                <a:solidFill>
                  <a:srgbClr val="1C191A"/>
                </a:solidFill>
                <a:latin typeface="Times New Roman Bold"/>
                <a:ea typeface="Times New Roman Bold"/>
                <a:cs typeface="Times New Roman Bold"/>
                <a:sym typeface="Times New Roman Bold"/>
              </a:rPr>
              <a:t>задачі</a:t>
            </a:r>
            <a:r>
              <a:rPr lang="en-US" sz="3600" b="1" dirty="0">
                <a:solidFill>
                  <a:srgbClr val="1C191A"/>
                </a:solidFill>
                <a:latin typeface="Times New Roman Bold"/>
                <a:ea typeface="Times New Roman Bold"/>
                <a:cs typeface="Times New Roman Bold"/>
                <a:sym typeface="Times New Roman Bold"/>
              </a:rPr>
              <a:t> </a:t>
            </a:r>
            <a:r>
              <a:rPr lang="en-US" sz="3600" b="1" dirty="0" err="1">
                <a:solidFill>
                  <a:srgbClr val="1C191A"/>
                </a:solidFill>
                <a:latin typeface="Times New Roman Bold"/>
                <a:ea typeface="Times New Roman Bold"/>
                <a:cs typeface="Times New Roman Bold"/>
                <a:sym typeface="Times New Roman Bold"/>
              </a:rPr>
              <a:t>та</a:t>
            </a:r>
            <a:r>
              <a:rPr lang="en-US" sz="3600" b="1" dirty="0">
                <a:solidFill>
                  <a:srgbClr val="1C191A"/>
                </a:solidFill>
                <a:latin typeface="Times New Roman Bold"/>
                <a:ea typeface="Times New Roman Bold"/>
                <a:cs typeface="Times New Roman Bold"/>
                <a:sym typeface="Times New Roman Bold"/>
              </a:rPr>
              <a:t> </a:t>
            </a:r>
            <a:r>
              <a:rPr lang="en-US" sz="3600" b="1" dirty="0" err="1">
                <a:solidFill>
                  <a:srgbClr val="1C191A"/>
                </a:solidFill>
                <a:latin typeface="Times New Roman Bold"/>
                <a:ea typeface="Times New Roman Bold"/>
                <a:cs typeface="Times New Roman Bold"/>
                <a:sym typeface="Times New Roman Bold"/>
              </a:rPr>
              <a:t>опис</a:t>
            </a:r>
            <a:r>
              <a:rPr lang="en-US" sz="3600" b="1" dirty="0">
                <a:solidFill>
                  <a:srgbClr val="1C191A"/>
                </a:solidFill>
                <a:latin typeface="Times New Roman Bold"/>
                <a:ea typeface="Times New Roman Bold"/>
                <a:cs typeface="Times New Roman Bold"/>
                <a:sym typeface="Times New Roman Bold"/>
              </a:rPr>
              <a:t> </a:t>
            </a:r>
            <a:r>
              <a:rPr lang="en-US" sz="3600" b="1" dirty="0" err="1">
                <a:solidFill>
                  <a:srgbClr val="1C191A"/>
                </a:solidFill>
                <a:latin typeface="Times New Roman Bold"/>
                <a:ea typeface="Times New Roman Bold"/>
                <a:cs typeface="Times New Roman Bold"/>
                <a:sym typeface="Times New Roman Bold"/>
              </a:rPr>
              <a:t>системи</a:t>
            </a:r>
            <a:endParaRPr lang="en-US" sz="3600" b="1" dirty="0">
              <a:solidFill>
                <a:srgbClr val="1C191A"/>
              </a:solidFill>
              <a:latin typeface="Times New Roman Bold"/>
              <a:ea typeface="Times New Roman Bold"/>
              <a:cs typeface="Times New Roman Bold"/>
              <a:sym typeface="Times New Roman Bold"/>
            </a:endParaRPr>
          </a:p>
        </p:txBody>
      </p:sp>
      <p:sp>
        <p:nvSpPr>
          <p:cNvPr id="9" name="TextBox 9"/>
          <p:cNvSpPr txBox="1"/>
          <p:nvPr/>
        </p:nvSpPr>
        <p:spPr>
          <a:xfrm>
            <a:off x="1137572" y="1730223"/>
            <a:ext cx="2672916" cy="2057358"/>
          </a:xfrm>
          <a:prstGeom prst="rect">
            <a:avLst/>
          </a:prstGeom>
        </p:spPr>
        <p:txBody>
          <a:bodyPr lIns="0" tIns="0" rIns="0" bIns="0" rtlCol="0" anchor="t">
            <a:spAutoFit/>
          </a:bodyPr>
          <a:lstStyle/>
          <a:p>
            <a:pPr marL="269876" lvl="1" indent="-134938">
              <a:lnSpc>
                <a:spcPts val="1750"/>
              </a:lnSpc>
              <a:spcBef>
                <a:spcPct val="0"/>
              </a:spcBef>
              <a:buAutoNum type="arabicPeriod"/>
            </a:pPr>
            <a:r>
              <a:rPr lang="en-US" sz="1250" spc="-25">
                <a:solidFill>
                  <a:srgbClr val="1C191A"/>
                </a:solidFill>
                <a:latin typeface="Times New Roman"/>
                <a:ea typeface="Times New Roman"/>
                <a:cs typeface="Times New Roman"/>
                <a:sym typeface="Times New Roman"/>
              </a:rPr>
              <a:t>Спроєктувати надійну архітектуру додатку, стійку до масштабування</a:t>
            </a:r>
          </a:p>
          <a:p>
            <a:pPr marL="269876" lvl="1" indent="-134938">
              <a:lnSpc>
                <a:spcPts val="1750"/>
              </a:lnSpc>
              <a:spcBef>
                <a:spcPct val="0"/>
              </a:spcBef>
              <a:buAutoNum type="arabicPeriod"/>
            </a:pPr>
            <a:r>
              <a:rPr lang="en-US" sz="1250" spc="-25">
                <a:solidFill>
                  <a:srgbClr val="1C191A"/>
                </a:solidFill>
                <a:latin typeface="Times New Roman"/>
                <a:ea typeface="Times New Roman"/>
                <a:cs typeface="Times New Roman"/>
                <a:sym typeface="Times New Roman"/>
              </a:rPr>
              <a:t>Реалізувати модуль "Гаманець" із підтримкою категорій витрат та доходів</a:t>
            </a:r>
          </a:p>
          <a:p>
            <a:pPr marL="269876" lvl="1" indent="-134938">
              <a:lnSpc>
                <a:spcPts val="1750"/>
              </a:lnSpc>
              <a:spcBef>
                <a:spcPct val="0"/>
              </a:spcBef>
              <a:buAutoNum type="arabicPeriod"/>
            </a:pPr>
            <a:r>
              <a:rPr lang="en-US" sz="1250" spc="-25">
                <a:solidFill>
                  <a:srgbClr val="1C191A"/>
                </a:solidFill>
                <a:latin typeface="Times New Roman"/>
                <a:ea typeface="Times New Roman"/>
                <a:cs typeface="Times New Roman"/>
                <a:sym typeface="Times New Roman"/>
              </a:rPr>
              <a:t>Розробити підсистему продуктивності</a:t>
            </a:r>
          </a:p>
          <a:p>
            <a:pPr marL="269876" lvl="1" indent="-134938">
              <a:lnSpc>
                <a:spcPts val="1750"/>
              </a:lnSpc>
              <a:spcBef>
                <a:spcPct val="0"/>
              </a:spcBef>
              <a:buAutoNum type="arabicPeriod"/>
            </a:pPr>
            <a:r>
              <a:rPr lang="en-US" sz="1250" spc="-25">
                <a:solidFill>
                  <a:srgbClr val="1C191A"/>
                </a:solidFill>
                <a:latin typeface="Times New Roman"/>
                <a:ea typeface="Times New Roman"/>
                <a:cs typeface="Times New Roman"/>
                <a:sym typeface="Times New Roman"/>
              </a:rPr>
              <a:t>Впровадити щоденний трекер емоційного стану</a:t>
            </a:r>
          </a:p>
        </p:txBody>
      </p:sp>
      <p:sp>
        <p:nvSpPr>
          <p:cNvPr id="10" name="TextBox 10"/>
          <p:cNvSpPr txBox="1"/>
          <p:nvPr/>
        </p:nvSpPr>
        <p:spPr>
          <a:xfrm>
            <a:off x="5148939" y="1734986"/>
            <a:ext cx="2679358" cy="2057358"/>
          </a:xfrm>
          <a:prstGeom prst="rect">
            <a:avLst/>
          </a:prstGeom>
        </p:spPr>
        <p:txBody>
          <a:bodyPr lIns="0" tIns="0" rIns="0" bIns="0" rtlCol="0" anchor="t">
            <a:spAutoFit/>
          </a:bodyPr>
          <a:lstStyle/>
          <a:p>
            <a:pPr marL="269875" lvl="1" indent="-134938">
              <a:lnSpc>
                <a:spcPts val="1750"/>
              </a:lnSpc>
              <a:spcBef>
                <a:spcPct val="0"/>
              </a:spcBef>
              <a:buAutoNum type="arabicPeriod"/>
            </a:pPr>
            <a:r>
              <a:rPr lang="en-US" sz="1250" spc="-25">
                <a:solidFill>
                  <a:srgbClr val="1C191A"/>
                </a:solidFill>
                <a:latin typeface="Times New Roman"/>
                <a:ea typeface="Times New Roman"/>
                <a:cs typeface="Times New Roman"/>
                <a:sym typeface="Times New Roman"/>
              </a:rPr>
              <a:t>Додати медіа-трекер із підтримкою зовнішніх API.</a:t>
            </a:r>
          </a:p>
          <a:p>
            <a:pPr marL="269875" lvl="1" indent="-134938">
              <a:lnSpc>
                <a:spcPts val="1750"/>
              </a:lnSpc>
              <a:spcBef>
                <a:spcPct val="0"/>
              </a:spcBef>
              <a:buAutoNum type="arabicPeriod"/>
            </a:pPr>
            <a:r>
              <a:rPr lang="en-US" sz="1250" spc="-25">
                <a:solidFill>
                  <a:srgbClr val="1C191A"/>
                </a:solidFill>
                <a:latin typeface="Times New Roman"/>
                <a:ea typeface="Times New Roman"/>
                <a:cs typeface="Times New Roman"/>
                <a:sym typeface="Times New Roman"/>
              </a:rPr>
              <a:t>Створити модуль аналітики для статистики.</a:t>
            </a:r>
          </a:p>
          <a:p>
            <a:pPr marL="269875" lvl="1" indent="-134938">
              <a:lnSpc>
                <a:spcPts val="1750"/>
              </a:lnSpc>
              <a:spcBef>
                <a:spcPct val="0"/>
              </a:spcBef>
              <a:buAutoNum type="arabicPeriod"/>
            </a:pPr>
            <a:r>
              <a:rPr lang="en-US" sz="1250" spc="-25">
                <a:solidFill>
                  <a:srgbClr val="1C191A"/>
                </a:solidFill>
                <a:latin typeface="Times New Roman"/>
                <a:ea typeface="Times New Roman"/>
                <a:cs typeface="Times New Roman"/>
                <a:sym typeface="Times New Roman"/>
              </a:rPr>
              <a:t>Розробити інтерактивні віджети для головного екрана.</a:t>
            </a:r>
          </a:p>
          <a:p>
            <a:pPr marL="269875" lvl="1" indent="-134938">
              <a:lnSpc>
                <a:spcPts val="1750"/>
              </a:lnSpc>
              <a:spcBef>
                <a:spcPct val="0"/>
              </a:spcBef>
              <a:buAutoNum type="arabicPeriod"/>
            </a:pPr>
            <a:r>
              <a:rPr lang="en-US" sz="1250" spc="-25">
                <a:solidFill>
                  <a:srgbClr val="1C191A"/>
                </a:solidFill>
                <a:latin typeface="Times New Roman"/>
                <a:ea typeface="Times New Roman"/>
                <a:cs typeface="Times New Roman"/>
                <a:sym typeface="Times New Roman"/>
              </a:rPr>
              <a:t>Зібрати фінальний релізний білд Android App Bundle.</a:t>
            </a:r>
          </a:p>
          <a:p>
            <a:pPr>
              <a:lnSpc>
                <a:spcPts val="1750"/>
              </a:lnSpc>
              <a:spcBef>
                <a:spcPct val="0"/>
              </a:spcBef>
            </a:pPr>
            <a:endParaRPr lang="en-US" sz="1250" spc="-25">
              <a:solidFill>
                <a:srgbClr val="1C191A"/>
              </a:solidFill>
              <a:latin typeface="Times New Roman"/>
              <a:ea typeface="Times New Roman"/>
              <a:cs typeface="Times New Roman"/>
              <a:sym typeface="Times New Roman"/>
            </a:endParaRPr>
          </a:p>
        </p:txBody>
      </p:sp>
      <p:sp>
        <p:nvSpPr>
          <p:cNvPr id="11" name="TextBox 11"/>
          <p:cNvSpPr txBox="1"/>
          <p:nvPr/>
        </p:nvSpPr>
        <p:spPr>
          <a:xfrm>
            <a:off x="403213" y="4283075"/>
            <a:ext cx="222275" cy="576504"/>
          </a:xfrm>
          <a:prstGeom prst="rect">
            <a:avLst/>
          </a:prstGeom>
        </p:spPr>
        <p:txBody>
          <a:bodyPr lIns="0" tIns="0" rIns="0" bIns="0" rtlCol="0" anchor="t">
            <a:spAutoFit/>
          </a:bodyPr>
          <a:lstStyle/>
          <a:p>
            <a:pPr algn="ctr">
              <a:lnSpc>
                <a:spcPts val="4900"/>
              </a:lnSpc>
              <a:spcBef>
                <a:spcPct val="0"/>
              </a:spcBef>
            </a:pPr>
            <a:r>
              <a:rPr lang="en-US" sz="3499">
                <a:latin typeface="Times New Roman"/>
                <a:ea typeface="Times New Roman"/>
                <a:cs typeface="Times New Roman"/>
                <a:sym typeface="Times New Roman"/>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15880" y="225760"/>
            <a:ext cx="5064412" cy="461665"/>
          </a:xfrm>
          <a:prstGeom prst="rect">
            <a:avLst/>
          </a:prstGeom>
        </p:spPr>
        <p:txBody>
          <a:bodyPr lIns="0" tIns="0" rIns="0" bIns="0" rtlCol="0" anchor="t">
            <a:spAutoFit/>
          </a:bodyPr>
          <a:lstStyle/>
          <a:p>
            <a:pPr>
              <a:lnSpc>
                <a:spcPts val="3600"/>
              </a:lnSpc>
              <a:spcBef>
                <a:spcPct val="0"/>
              </a:spcBef>
            </a:pPr>
            <a:r>
              <a:rPr lang="en-US" sz="3600" b="1">
                <a:solidFill>
                  <a:srgbClr val="1C191A"/>
                </a:solidFill>
                <a:latin typeface="Times New Roman Bold"/>
                <a:ea typeface="Times New Roman Bold"/>
                <a:cs typeface="Times New Roman Bold"/>
                <a:sym typeface="Times New Roman Bold"/>
              </a:rPr>
              <a:t>Використані технології</a:t>
            </a:r>
          </a:p>
        </p:txBody>
      </p:sp>
      <p:grpSp>
        <p:nvGrpSpPr>
          <p:cNvPr id="3" name="Group 3"/>
          <p:cNvGrpSpPr/>
          <p:nvPr/>
        </p:nvGrpSpPr>
        <p:grpSpPr>
          <a:xfrm>
            <a:off x="796176" y="914769"/>
            <a:ext cx="7551649" cy="3923713"/>
            <a:chOff x="0" y="0"/>
            <a:chExt cx="3977823" cy="2066811"/>
          </a:xfrm>
        </p:grpSpPr>
        <p:sp>
          <p:nvSpPr>
            <p:cNvPr id="4" name="Freeform 4"/>
            <p:cNvSpPr/>
            <p:nvPr/>
          </p:nvSpPr>
          <p:spPr>
            <a:xfrm>
              <a:off x="0" y="0"/>
              <a:ext cx="3977823" cy="2066811"/>
            </a:xfrm>
            <a:custGeom>
              <a:avLst/>
              <a:gdLst/>
              <a:ahLst/>
              <a:cxnLst/>
              <a:rect l="l" t="t" r="r" b="b"/>
              <a:pathLst>
                <a:path w="3977823" h="2066811">
                  <a:moveTo>
                    <a:pt x="0" y="0"/>
                  </a:moveTo>
                  <a:lnTo>
                    <a:pt x="3977823" y="0"/>
                  </a:lnTo>
                  <a:lnTo>
                    <a:pt x="3977823" y="2066811"/>
                  </a:lnTo>
                  <a:lnTo>
                    <a:pt x="0" y="2066811"/>
                  </a:lnTo>
                  <a:close/>
                </a:path>
              </a:pathLst>
            </a:custGeom>
            <a:solidFill>
              <a:srgbClr val="F3F5F8"/>
            </a:solidFill>
          </p:spPr>
        </p:sp>
        <p:sp>
          <p:nvSpPr>
            <p:cNvPr id="5" name="TextBox 5"/>
            <p:cNvSpPr txBox="1"/>
            <p:nvPr/>
          </p:nvSpPr>
          <p:spPr>
            <a:xfrm>
              <a:off x="0" y="-19050"/>
              <a:ext cx="3977823" cy="2085861"/>
            </a:xfrm>
            <a:prstGeom prst="rect">
              <a:avLst/>
            </a:prstGeom>
          </p:spPr>
          <p:txBody>
            <a:bodyPr lIns="25400" tIns="25400" rIns="25400" bIns="25400" rtlCol="0" anchor="ctr"/>
            <a:lstStyle/>
            <a:p>
              <a:pPr algn="ctr">
                <a:lnSpc>
                  <a:spcPts val="1320"/>
                </a:lnSpc>
              </a:pPr>
              <a:endParaRPr sz="700"/>
            </a:p>
          </p:txBody>
        </p:sp>
      </p:grpSp>
      <p:sp>
        <p:nvSpPr>
          <p:cNvPr id="6" name="TextBox 6"/>
          <p:cNvSpPr txBox="1"/>
          <p:nvPr/>
        </p:nvSpPr>
        <p:spPr>
          <a:xfrm>
            <a:off x="2328224" y="1497804"/>
            <a:ext cx="5199900" cy="199542"/>
          </a:xfrm>
          <a:prstGeom prst="rect">
            <a:avLst/>
          </a:prstGeom>
        </p:spPr>
        <p:txBody>
          <a:bodyPr lIns="0" tIns="0" rIns="0" bIns="0" rtlCol="0" anchor="t">
            <a:spAutoFit/>
          </a:bodyPr>
          <a:lstStyle/>
          <a:p>
            <a:pPr>
              <a:lnSpc>
                <a:spcPts val="1680"/>
              </a:lnSpc>
              <a:spcBef>
                <a:spcPct val="0"/>
              </a:spcBef>
            </a:pPr>
            <a:r>
              <a:rPr lang="en-US" sz="1200" spc="-24">
                <a:solidFill>
                  <a:srgbClr val="2A2E30"/>
                </a:solidFill>
                <a:latin typeface="Times New Roman"/>
                <a:ea typeface="Times New Roman"/>
                <a:cs typeface="Times New Roman"/>
                <a:sym typeface="Times New Roman"/>
              </a:rPr>
              <a:t>Kotlin використання сучасних можливостей: Coroutines, Flow</a:t>
            </a:r>
          </a:p>
        </p:txBody>
      </p:sp>
      <p:sp>
        <p:nvSpPr>
          <p:cNvPr id="7" name="TextBox 7"/>
          <p:cNvSpPr txBox="1"/>
          <p:nvPr/>
        </p:nvSpPr>
        <p:spPr>
          <a:xfrm>
            <a:off x="2328224" y="2356642"/>
            <a:ext cx="5746749" cy="417550"/>
          </a:xfrm>
          <a:prstGeom prst="rect">
            <a:avLst/>
          </a:prstGeom>
        </p:spPr>
        <p:txBody>
          <a:bodyPr lIns="0" tIns="0" rIns="0" bIns="0" rtlCol="0" anchor="t">
            <a:spAutoFit/>
          </a:bodyPr>
          <a:lstStyle/>
          <a:p>
            <a:pPr>
              <a:lnSpc>
                <a:spcPts val="1680"/>
              </a:lnSpc>
              <a:spcBef>
                <a:spcPct val="0"/>
              </a:spcBef>
            </a:pPr>
            <a:r>
              <a:rPr lang="en-US" sz="1200" spc="-24">
                <a:solidFill>
                  <a:srgbClr val="2A2E30"/>
                </a:solidFill>
                <a:latin typeface="Times New Roman"/>
                <a:ea typeface="Times New Roman"/>
                <a:cs typeface="Times New Roman"/>
                <a:sym typeface="Times New Roman"/>
              </a:rPr>
              <a:t>Jetpack Compose сучасний декларативний підхід до побудови інтерфейсу без використання XML. Вибір на користь нативної розробки для забезпечення максимальної продуктивності.</a:t>
            </a:r>
          </a:p>
        </p:txBody>
      </p:sp>
      <p:sp>
        <p:nvSpPr>
          <p:cNvPr id="8" name="TextBox 8"/>
          <p:cNvSpPr txBox="1"/>
          <p:nvPr/>
        </p:nvSpPr>
        <p:spPr>
          <a:xfrm>
            <a:off x="2328224" y="1200662"/>
            <a:ext cx="2419862" cy="218008"/>
          </a:xfrm>
          <a:prstGeom prst="rect">
            <a:avLst/>
          </a:prstGeom>
        </p:spPr>
        <p:txBody>
          <a:bodyPr lIns="0" tIns="0" rIns="0" bIns="0" rtlCol="0" anchor="t">
            <a:spAutoFit/>
          </a:bodyPr>
          <a:lstStyle/>
          <a:p>
            <a:pPr>
              <a:lnSpc>
                <a:spcPts val="1650"/>
              </a:lnSpc>
            </a:pPr>
            <a:r>
              <a:rPr lang="en-US" sz="1500" b="1">
                <a:solidFill>
                  <a:srgbClr val="1C191A"/>
                </a:solidFill>
                <a:latin typeface="Times New Roman Bold"/>
                <a:ea typeface="Times New Roman Bold"/>
                <a:cs typeface="Times New Roman Bold"/>
                <a:sym typeface="Times New Roman Bold"/>
              </a:rPr>
              <a:t>Мова програмування</a:t>
            </a:r>
          </a:p>
        </p:txBody>
      </p:sp>
      <p:sp>
        <p:nvSpPr>
          <p:cNvPr id="9" name="TextBox 9"/>
          <p:cNvSpPr txBox="1"/>
          <p:nvPr/>
        </p:nvSpPr>
        <p:spPr>
          <a:xfrm>
            <a:off x="1080049" y="1214949"/>
            <a:ext cx="855800" cy="500137"/>
          </a:xfrm>
          <a:prstGeom prst="rect">
            <a:avLst/>
          </a:prstGeom>
        </p:spPr>
        <p:txBody>
          <a:bodyPr lIns="0" tIns="0" rIns="0" bIns="0" rtlCol="0" anchor="t">
            <a:spAutoFit/>
          </a:bodyPr>
          <a:lstStyle/>
          <a:p>
            <a:pPr algn="r">
              <a:lnSpc>
                <a:spcPts val="3946"/>
              </a:lnSpc>
              <a:spcBef>
                <a:spcPct val="0"/>
              </a:spcBef>
            </a:pPr>
            <a:r>
              <a:rPr lang="en-US" sz="3946" b="1">
                <a:solidFill>
                  <a:srgbClr val="C10404"/>
                </a:solidFill>
                <a:latin typeface="Codec Pro Bold"/>
                <a:ea typeface="Codec Pro Bold"/>
                <a:cs typeface="Codec Pro Bold"/>
                <a:sym typeface="Codec Pro Bold"/>
              </a:rPr>
              <a:t>01</a:t>
            </a:r>
          </a:p>
        </p:txBody>
      </p:sp>
      <p:sp>
        <p:nvSpPr>
          <p:cNvPr id="10" name="TextBox 10"/>
          <p:cNvSpPr txBox="1"/>
          <p:nvPr/>
        </p:nvSpPr>
        <p:spPr>
          <a:xfrm>
            <a:off x="2328224" y="2061367"/>
            <a:ext cx="2419862" cy="218008"/>
          </a:xfrm>
          <a:prstGeom prst="rect">
            <a:avLst/>
          </a:prstGeom>
        </p:spPr>
        <p:txBody>
          <a:bodyPr lIns="0" tIns="0" rIns="0" bIns="0" rtlCol="0" anchor="t">
            <a:spAutoFit/>
          </a:bodyPr>
          <a:lstStyle/>
          <a:p>
            <a:pPr>
              <a:lnSpc>
                <a:spcPts val="1650"/>
              </a:lnSpc>
            </a:pPr>
            <a:r>
              <a:rPr lang="en-US" sz="1500" b="1">
                <a:solidFill>
                  <a:srgbClr val="1C191A"/>
                </a:solidFill>
                <a:latin typeface="Times New Roman Bold"/>
                <a:ea typeface="Times New Roman Bold"/>
                <a:cs typeface="Times New Roman Bold"/>
                <a:sym typeface="Times New Roman Bold"/>
              </a:rPr>
              <a:t>UI Framework</a:t>
            </a:r>
          </a:p>
        </p:txBody>
      </p:sp>
      <p:sp>
        <p:nvSpPr>
          <p:cNvPr id="11" name="TextBox 11"/>
          <p:cNvSpPr txBox="1"/>
          <p:nvPr/>
        </p:nvSpPr>
        <p:spPr>
          <a:xfrm>
            <a:off x="1080049" y="2075654"/>
            <a:ext cx="855800" cy="500137"/>
          </a:xfrm>
          <a:prstGeom prst="rect">
            <a:avLst/>
          </a:prstGeom>
        </p:spPr>
        <p:txBody>
          <a:bodyPr lIns="0" tIns="0" rIns="0" bIns="0" rtlCol="0" anchor="t">
            <a:spAutoFit/>
          </a:bodyPr>
          <a:lstStyle/>
          <a:p>
            <a:pPr algn="r">
              <a:lnSpc>
                <a:spcPts val="3946"/>
              </a:lnSpc>
              <a:spcBef>
                <a:spcPct val="0"/>
              </a:spcBef>
            </a:pPr>
            <a:r>
              <a:rPr lang="en-US" sz="3946" b="1">
                <a:solidFill>
                  <a:srgbClr val="C10404"/>
                </a:solidFill>
                <a:latin typeface="Codec Pro Bold"/>
                <a:ea typeface="Codec Pro Bold"/>
                <a:cs typeface="Codec Pro Bold"/>
                <a:sym typeface="Codec Pro Bold"/>
              </a:rPr>
              <a:t>02</a:t>
            </a:r>
          </a:p>
        </p:txBody>
      </p:sp>
      <p:sp>
        <p:nvSpPr>
          <p:cNvPr id="12" name="TextBox 12"/>
          <p:cNvSpPr txBox="1"/>
          <p:nvPr/>
        </p:nvSpPr>
        <p:spPr>
          <a:xfrm>
            <a:off x="2328224" y="3215162"/>
            <a:ext cx="5675421" cy="417550"/>
          </a:xfrm>
          <a:prstGeom prst="rect">
            <a:avLst/>
          </a:prstGeom>
        </p:spPr>
        <p:txBody>
          <a:bodyPr lIns="0" tIns="0" rIns="0" bIns="0" rtlCol="0" anchor="t">
            <a:spAutoFit/>
          </a:bodyPr>
          <a:lstStyle/>
          <a:p>
            <a:pPr>
              <a:lnSpc>
                <a:spcPts val="1680"/>
              </a:lnSpc>
              <a:spcBef>
                <a:spcPct val="0"/>
              </a:spcBef>
            </a:pPr>
            <a:r>
              <a:rPr lang="en-US" sz="1200" spc="-24">
                <a:solidFill>
                  <a:srgbClr val="2A2E30"/>
                </a:solidFill>
                <a:latin typeface="Times New Roman"/>
                <a:ea typeface="Times New Roman"/>
                <a:cs typeface="Times New Roman"/>
                <a:sym typeface="Times New Roman"/>
              </a:rPr>
              <a:t>Хмарна база даних Firebase Firestore для надійної роботи в реальному часі у поєднанні з локальним кешуванням для миттєвого завантаження UI.</a:t>
            </a:r>
          </a:p>
        </p:txBody>
      </p:sp>
      <p:sp>
        <p:nvSpPr>
          <p:cNvPr id="13" name="TextBox 13"/>
          <p:cNvSpPr txBox="1"/>
          <p:nvPr/>
        </p:nvSpPr>
        <p:spPr>
          <a:xfrm>
            <a:off x="2328224" y="2919887"/>
            <a:ext cx="2419862" cy="218008"/>
          </a:xfrm>
          <a:prstGeom prst="rect">
            <a:avLst/>
          </a:prstGeom>
        </p:spPr>
        <p:txBody>
          <a:bodyPr lIns="0" tIns="0" rIns="0" bIns="0" rtlCol="0" anchor="t">
            <a:spAutoFit/>
          </a:bodyPr>
          <a:lstStyle/>
          <a:p>
            <a:pPr>
              <a:lnSpc>
                <a:spcPts val="1650"/>
              </a:lnSpc>
            </a:pPr>
            <a:r>
              <a:rPr lang="en-US" sz="1500" b="1">
                <a:solidFill>
                  <a:srgbClr val="1C191A"/>
                </a:solidFill>
                <a:latin typeface="Times New Roman Bold"/>
                <a:ea typeface="Times New Roman Bold"/>
                <a:cs typeface="Times New Roman Bold"/>
                <a:sym typeface="Times New Roman Bold"/>
              </a:rPr>
              <a:t>Зберігання даних</a:t>
            </a:r>
          </a:p>
        </p:txBody>
      </p:sp>
      <p:sp>
        <p:nvSpPr>
          <p:cNvPr id="14" name="TextBox 14"/>
          <p:cNvSpPr txBox="1"/>
          <p:nvPr/>
        </p:nvSpPr>
        <p:spPr>
          <a:xfrm>
            <a:off x="1080049" y="2934174"/>
            <a:ext cx="855800" cy="500137"/>
          </a:xfrm>
          <a:prstGeom prst="rect">
            <a:avLst/>
          </a:prstGeom>
        </p:spPr>
        <p:txBody>
          <a:bodyPr lIns="0" tIns="0" rIns="0" bIns="0" rtlCol="0" anchor="t">
            <a:spAutoFit/>
          </a:bodyPr>
          <a:lstStyle/>
          <a:p>
            <a:pPr algn="r">
              <a:lnSpc>
                <a:spcPts val="3946"/>
              </a:lnSpc>
              <a:spcBef>
                <a:spcPct val="0"/>
              </a:spcBef>
            </a:pPr>
            <a:r>
              <a:rPr lang="en-US" sz="3946" b="1">
                <a:solidFill>
                  <a:srgbClr val="C10404"/>
                </a:solidFill>
                <a:latin typeface="Codec Pro Bold"/>
                <a:ea typeface="Codec Pro Bold"/>
                <a:cs typeface="Codec Pro Bold"/>
                <a:sym typeface="Codec Pro Bold"/>
              </a:rPr>
              <a:t>03</a:t>
            </a:r>
          </a:p>
        </p:txBody>
      </p:sp>
      <p:sp>
        <p:nvSpPr>
          <p:cNvPr id="15" name="TextBox 15"/>
          <p:cNvSpPr txBox="1"/>
          <p:nvPr/>
        </p:nvSpPr>
        <p:spPr>
          <a:xfrm>
            <a:off x="1080049" y="3792694"/>
            <a:ext cx="855800" cy="500137"/>
          </a:xfrm>
          <a:prstGeom prst="rect">
            <a:avLst/>
          </a:prstGeom>
        </p:spPr>
        <p:txBody>
          <a:bodyPr lIns="0" tIns="0" rIns="0" bIns="0" rtlCol="0" anchor="t">
            <a:spAutoFit/>
          </a:bodyPr>
          <a:lstStyle/>
          <a:p>
            <a:pPr algn="r">
              <a:lnSpc>
                <a:spcPts val="3946"/>
              </a:lnSpc>
              <a:spcBef>
                <a:spcPct val="0"/>
              </a:spcBef>
            </a:pPr>
            <a:r>
              <a:rPr lang="en-US" sz="3946" b="1">
                <a:solidFill>
                  <a:srgbClr val="C10404"/>
                </a:solidFill>
                <a:latin typeface="Codec Pro Bold"/>
                <a:ea typeface="Codec Pro Bold"/>
                <a:cs typeface="Codec Pro Bold"/>
                <a:sym typeface="Codec Pro Bold"/>
              </a:rPr>
              <a:t>04</a:t>
            </a:r>
          </a:p>
        </p:txBody>
      </p:sp>
      <p:sp>
        <p:nvSpPr>
          <p:cNvPr id="16" name="TextBox 16"/>
          <p:cNvSpPr txBox="1"/>
          <p:nvPr/>
        </p:nvSpPr>
        <p:spPr>
          <a:xfrm>
            <a:off x="2328224" y="3778407"/>
            <a:ext cx="2419862" cy="218008"/>
          </a:xfrm>
          <a:prstGeom prst="rect">
            <a:avLst/>
          </a:prstGeom>
        </p:spPr>
        <p:txBody>
          <a:bodyPr lIns="0" tIns="0" rIns="0" bIns="0" rtlCol="0" anchor="t">
            <a:spAutoFit/>
          </a:bodyPr>
          <a:lstStyle/>
          <a:p>
            <a:pPr>
              <a:lnSpc>
                <a:spcPts val="1650"/>
              </a:lnSpc>
            </a:pPr>
            <a:r>
              <a:rPr lang="en-US" sz="1500" b="1">
                <a:solidFill>
                  <a:srgbClr val="1C191A"/>
                </a:solidFill>
                <a:latin typeface="Times New Roman Bold"/>
                <a:ea typeface="Times New Roman Bold"/>
                <a:cs typeface="Times New Roman Bold"/>
                <a:sym typeface="Times New Roman Bold"/>
              </a:rPr>
              <a:t>Системні інтеграції</a:t>
            </a:r>
          </a:p>
        </p:txBody>
      </p:sp>
      <p:sp>
        <p:nvSpPr>
          <p:cNvPr id="17" name="TextBox 17"/>
          <p:cNvSpPr txBox="1"/>
          <p:nvPr/>
        </p:nvSpPr>
        <p:spPr>
          <a:xfrm>
            <a:off x="2328224" y="4073682"/>
            <a:ext cx="5675421" cy="417550"/>
          </a:xfrm>
          <a:prstGeom prst="rect">
            <a:avLst/>
          </a:prstGeom>
        </p:spPr>
        <p:txBody>
          <a:bodyPr lIns="0" tIns="0" rIns="0" bIns="0" rtlCol="0" anchor="t">
            <a:spAutoFit/>
          </a:bodyPr>
          <a:lstStyle/>
          <a:p>
            <a:pPr>
              <a:lnSpc>
                <a:spcPts val="1680"/>
              </a:lnSpc>
              <a:spcBef>
                <a:spcPct val="0"/>
              </a:spcBef>
            </a:pPr>
            <a:r>
              <a:rPr lang="en-US" sz="1200" spc="-24">
                <a:solidFill>
                  <a:srgbClr val="2A2E30"/>
                </a:solidFill>
                <a:latin typeface="Times New Roman"/>
                <a:ea typeface="Times New Roman"/>
                <a:cs typeface="Times New Roman"/>
                <a:sym typeface="Times New Roman"/>
              </a:rPr>
              <a:t>Android AppWidgets для створення інтерактивних віджетів на робочому столі та UsageStats  трекінг екранного часу.</a:t>
            </a:r>
          </a:p>
        </p:txBody>
      </p:sp>
      <p:sp>
        <p:nvSpPr>
          <p:cNvPr id="18" name="TextBox 18"/>
          <p:cNvSpPr txBox="1"/>
          <p:nvPr/>
        </p:nvSpPr>
        <p:spPr>
          <a:xfrm>
            <a:off x="403213" y="4283075"/>
            <a:ext cx="222275" cy="576504"/>
          </a:xfrm>
          <a:prstGeom prst="rect">
            <a:avLst/>
          </a:prstGeom>
        </p:spPr>
        <p:txBody>
          <a:bodyPr lIns="0" tIns="0" rIns="0" bIns="0" rtlCol="0" anchor="t">
            <a:spAutoFit/>
          </a:bodyPr>
          <a:lstStyle/>
          <a:p>
            <a:pPr algn="ctr">
              <a:lnSpc>
                <a:spcPts val="4900"/>
              </a:lnSpc>
              <a:spcBef>
                <a:spcPct val="0"/>
              </a:spcBef>
            </a:pPr>
            <a:r>
              <a:rPr lang="en-US" sz="3499" dirty="0">
                <a:latin typeface="Times New Roman"/>
                <a:ea typeface="Times New Roman"/>
                <a:cs typeface="Times New Roman"/>
                <a:sym typeface="Times New Roman"/>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4350" y="1331249"/>
            <a:ext cx="8115300" cy="3011002"/>
            <a:chOff x="0" y="0"/>
            <a:chExt cx="4274726" cy="1586042"/>
          </a:xfrm>
        </p:grpSpPr>
        <p:sp>
          <p:nvSpPr>
            <p:cNvPr id="3" name="Freeform 3"/>
            <p:cNvSpPr/>
            <p:nvPr/>
          </p:nvSpPr>
          <p:spPr>
            <a:xfrm>
              <a:off x="0" y="0"/>
              <a:ext cx="4274726" cy="1586042"/>
            </a:xfrm>
            <a:custGeom>
              <a:avLst/>
              <a:gdLst/>
              <a:ahLst/>
              <a:cxnLst/>
              <a:rect l="l" t="t" r="r" b="b"/>
              <a:pathLst>
                <a:path w="4274726" h="1586042">
                  <a:moveTo>
                    <a:pt x="0" y="0"/>
                  </a:moveTo>
                  <a:lnTo>
                    <a:pt x="4274726" y="0"/>
                  </a:lnTo>
                  <a:lnTo>
                    <a:pt x="4274726" y="1586042"/>
                  </a:lnTo>
                  <a:lnTo>
                    <a:pt x="0" y="1586042"/>
                  </a:lnTo>
                  <a:close/>
                </a:path>
              </a:pathLst>
            </a:custGeom>
            <a:solidFill>
              <a:srgbClr val="F3F5F8"/>
            </a:solidFill>
          </p:spPr>
        </p:sp>
        <p:sp>
          <p:nvSpPr>
            <p:cNvPr id="4" name="TextBox 4"/>
            <p:cNvSpPr txBox="1"/>
            <p:nvPr/>
          </p:nvSpPr>
          <p:spPr>
            <a:xfrm>
              <a:off x="0" y="-19050"/>
              <a:ext cx="4274726" cy="1605092"/>
            </a:xfrm>
            <a:prstGeom prst="rect">
              <a:avLst/>
            </a:prstGeom>
          </p:spPr>
          <p:txBody>
            <a:bodyPr lIns="25400" tIns="25400" rIns="25400" bIns="25400" rtlCol="0" anchor="ctr"/>
            <a:lstStyle/>
            <a:p>
              <a:pPr algn="ctr">
                <a:lnSpc>
                  <a:spcPts val="1320"/>
                </a:lnSpc>
              </a:pPr>
              <a:endParaRPr sz="700"/>
            </a:p>
          </p:txBody>
        </p:sp>
      </p:grpSp>
      <p:sp>
        <p:nvSpPr>
          <p:cNvPr id="5" name="Freeform 5"/>
          <p:cNvSpPr/>
          <p:nvPr/>
        </p:nvSpPr>
        <p:spPr>
          <a:xfrm>
            <a:off x="646383" y="1416790"/>
            <a:ext cx="870432" cy="881653"/>
          </a:xfrm>
          <a:custGeom>
            <a:avLst/>
            <a:gdLst/>
            <a:ahLst/>
            <a:cxnLst/>
            <a:rect l="l" t="t" r="r" b="b"/>
            <a:pathLst>
              <a:path w="1740864" h="1763306">
                <a:moveTo>
                  <a:pt x="0" y="0"/>
                </a:moveTo>
                <a:lnTo>
                  <a:pt x="1740863" y="0"/>
                </a:lnTo>
                <a:lnTo>
                  <a:pt x="1740863" y="1763305"/>
                </a:lnTo>
                <a:lnTo>
                  <a:pt x="0" y="176330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447102" y="287655"/>
            <a:ext cx="8538901" cy="461665"/>
          </a:xfrm>
          <a:prstGeom prst="rect">
            <a:avLst/>
          </a:prstGeom>
        </p:spPr>
        <p:txBody>
          <a:bodyPr lIns="0" tIns="0" rIns="0" bIns="0" rtlCol="0" anchor="t">
            <a:spAutoFit/>
          </a:bodyPr>
          <a:lstStyle/>
          <a:p>
            <a:pPr>
              <a:lnSpc>
                <a:spcPts val="3600"/>
              </a:lnSpc>
              <a:spcBef>
                <a:spcPct val="0"/>
              </a:spcBef>
            </a:pPr>
            <a:r>
              <a:rPr lang="en-US" sz="3600" b="1">
                <a:solidFill>
                  <a:srgbClr val="1C191A"/>
                </a:solidFill>
                <a:latin typeface="Times New Roman Bold"/>
                <a:ea typeface="Times New Roman Bold"/>
                <a:cs typeface="Times New Roman Bold"/>
                <a:sym typeface="Times New Roman Bold"/>
              </a:rPr>
              <a:t> Архітектура програмного забезпечення</a:t>
            </a:r>
          </a:p>
        </p:txBody>
      </p:sp>
      <p:sp>
        <p:nvSpPr>
          <p:cNvPr id="7" name="TextBox 7"/>
          <p:cNvSpPr txBox="1"/>
          <p:nvPr/>
        </p:nvSpPr>
        <p:spPr>
          <a:xfrm>
            <a:off x="1714949" y="1632155"/>
            <a:ext cx="6594010" cy="2462213"/>
          </a:xfrm>
          <a:prstGeom prst="rect">
            <a:avLst/>
          </a:prstGeom>
        </p:spPr>
        <p:txBody>
          <a:bodyPr lIns="0" tIns="0" rIns="0" bIns="0" rtlCol="0" anchor="t">
            <a:spAutoFit/>
          </a:bodyPr>
          <a:lstStyle/>
          <a:p>
            <a:pPr algn="ctr">
              <a:lnSpc>
                <a:spcPts val="1595"/>
              </a:lnSpc>
              <a:spcBef>
                <a:spcPct val="0"/>
              </a:spcBef>
            </a:pPr>
            <a:r>
              <a:rPr lang="en-US" sz="1450">
                <a:solidFill>
                  <a:srgbClr val="1C191A"/>
                </a:solidFill>
                <a:latin typeface="Times New Roman"/>
                <a:ea typeface="Times New Roman"/>
                <a:cs typeface="Times New Roman"/>
                <a:sym typeface="Times New Roman"/>
              </a:rPr>
              <a:t>Основою надійності системи є Clean Architecture, яка забезпечує суворий розподіл проєкту на незалежні рівні: від керування інтерфейсом (Presentation) до ізольованої бізнес-логіки (Domain) та роботи з базою даних (Data).</a:t>
            </a:r>
          </a:p>
          <a:p>
            <a:pPr algn="ctr">
              <a:lnSpc>
                <a:spcPts val="1595"/>
              </a:lnSpc>
              <a:spcBef>
                <a:spcPct val="0"/>
              </a:spcBef>
            </a:pPr>
            <a:endParaRPr lang="en-US" sz="1450">
              <a:solidFill>
                <a:srgbClr val="1C191A"/>
              </a:solidFill>
              <a:latin typeface="Times New Roman"/>
              <a:ea typeface="Times New Roman"/>
              <a:cs typeface="Times New Roman"/>
              <a:sym typeface="Times New Roman"/>
            </a:endParaRPr>
          </a:p>
          <a:p>
            <a:pPr algn="ctr">
              <a:lnSpc>
                <a:spcPts val="1595"/>
              </a:lnSpc>
              <a:spcBef>
                <a:spcPct val="0"/>
              </a:spcBef>
            </a:pPr>
            <a:r>
              <a:rPr lang="en-US" sz="1450">
                <a:solidFill>
                  <a:srgbClr val="1C191A"/>
                </a:solidFill>
                <a:latin typeface="Times New Roman"/>
                <a:ea typeface="Times New Roman"/>
                <a:cs typeface="Times New Roman"/>
                <a:sym typeface="Times New Roman"/>
              </a:rPr>
              <a:t>Візуальна частина додатку повністю відділена від логіки обробки інформації завдяки патерну MVVM. Це гарантує плавне та миттєве реактивне оновлення екранів при будь-яких змінах стану системи.</a:t>
            </a:r>
          </a:p>
          <a:p>
            <a:pPr algn="ctr">
              <a:lnSpc>
                <a:spcPts val="1595"/>
              </a:lnSpc>
              <a:spcBef>
                <a:spcPct val="0"/>
              </a:spcBef>
            </a:pPr>
            <a:endParaRPr lang="en-US" sz="1450">
              <a:solidFill>
                <a:srgbClr val="1C191A"/>
              </a:solidFill>
              <a:latin typeface="Times New Roman"/>
              <a:ea typeface="Times New Roman"/>
              <a:cs typeface="Times New Roman"/>
              <a:sym typeface="Times New Roman"/>
            </a:endParaRPr>
          </a:p>
          <a:p>
            <a:pPr algn="ctr">
              <a:lnSpc>
                <a:spcPts val="1595"/>
              </a:lnSpc>
              <a:spcBef>
                <a:spcPct val="0"/>
              </a:spcBef>
            </a:pPr>
            <a:r>
              <a:rPr lang="en-US" sz="1450">
                <a:solidFill>
                  <a:srgbClr val="1C191A"/>
                </a:solidFill>
                <a:latin typeface="Times New Roman"/>
                <a:ea typeface="Times New Roman"/>
                <a:cs typeface="Times New Roman"/>
                <a:sym typeface="Times New Roman"/>
              </a:rPr>
              <a:t>Для ефективного управління компонентами інтегровано підхід Dependency Injection (Hilt/Dagger). Таке рішення робить архітектуру гнучкою, максимально модульною та значно полегшує подальше масштабування й тестування коду.</a:t>
            </a:r>
          </a:p>
          <a:p>
            <a:pPr algn="ctr">
              <a:lnSpc>
                <a:spcPts val="1595"/>
              </a:lnSpc>
              <a:spcBef>
                <a:spcPct val="0"/>
              </a:spcBef>
            </a:pPr>
            <a:endParaRPr lang="en-US" sz="1450">
              <a:solidFill>
                <a:srgbClr val="1C191A"/>
              </a:solidFill>
              <a:latin typeface="Times New Roman"/>
              <a:ea typeface="Times New Roman"/>
              <a:cs typeface="Times New Roman"/>
              <a:sym typeface="Times New Roman"/>
            </a:endParaRPr>
          </a:p>
        </p:txBody>
      </p:sp>
      <p:sp>
        <p:nvSpPr>
          <p:cNvPr id="8" name="TextBox 8"/>
          <p:cNvSpPr txBox="1"/>
          <p:nvPr/>
        </p:nvSpPr>
        <p:spPr>
          <a:xfrm>
            <a:off x="403213" y="4283075"/>
            <a:ext cx="222275" cy="576504"/>
          </a:xfrm>
          <a:prstGeom prst="rect">
            <a:avLst/>
          </a:prstGeom>
        </p:spPr>
        <p:txBody>
          <a:bodyPr lIns="0" tIns="0" rIns="0" bIns="0" rtlCol="0" anchor="t">
            <a:spAutoFit/>
          </a:bodyPr>
          <a:lstStyle/>
          <a:p>
            <a:pPr algn="ctr">
              <a:lnSpc>
                <a:spcPts val="4900"/>
              </a:lnSpc>
              <a:spcBef>
                <a:spcPct val="0"/>
              </a:spcBef>
            </a:pPr>
            <a:r>
              <a:rPr lang="en-US" sz="3499">
                <a:latin typeface="Times New Roman"/>
                <a:ea typeface="Times New Roman"/>
                <a:cs typeface="Times New Roman"/>
                <a:sym typeface="Times New Roman"/>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21021" y="744215"/>
            <a:ext cx="4392399" cy="4340404"/>
          </a:xfrm>
          <a:custGeom>
            <a:avLst/>
            <a:gdLst/>
            <a:ahLst/>
            <a:cxnLst/>
            <a:rect l="l" t="t" r="r" b="b"/>
            <a:pathLst>
              <a:path w="8476779" h="8682558">
                <a:moveTo>
                  <a:pt x="0" y="0"/>
                </a:moveTo>
                <a:lnTo>
                  <a:pt x="8476779" y="0"/>
                </a:lnTo>
                <a:lnTo>
                  <a:pt x="8476779" y="8682559"/>
                </a:lnTo>
                <a:lnTo>
                  <a:pt x="0" y="8682559"/>
                </a:lnTo>
                <a:lnTo>
                  <a:pt x="0" y="0"/>
                </a:lnTo>
                <a:close/>
              </a:path>
            </a:pathLst>
          </a:custGeom>
          <a:blipFill>
            <a:blip r:embed="rId2"/>
            <a:stretch>
              <a:fillRect/>
            </a:stretch>
          </a:blipFill>
        </p:spPr>
      </p:sp>
      <p:sp>
        <p:nvSpPr>
          <p:cNvPr id="3" name="TextBox 3"/>
          <p:cNvSpPr txBox="1"/>
          <p:nvPr/>
        </p:nvSpPr>
        <p:spPr>
          <a:xfrm>
            <a:off x="625488" y="165167"/>
            <a:ext cx="7902479" cy="512961"/>
          </a:xfrm>
          <a:prstGeom prst="rect">
            <a:avLst/>
          </a:prstGeom>
        </p:spPr>
        <p:txBody>
          <a:bodyPr wrap="square" lIns="0" tIns="0" rIns="0" bIns="0" rtlCol="0" anchor="t">
            <a:spAutoFit/>
          </a:bodyPr>
          <a:lstStyle/>
          <a:p>
            <a:pPr algn="ctr">
              <a:lnSpc>
                <a:spcPts val="3960"/>
              </a:lnSpc>
              <a:spcBef>
                <a:spcPct val="0"/>
              </a:spcBef>
            </a:pPr>
            <a:r>
              <a:rPr lang="en-US" sz="3600" b="1" dirty="0" err="1">
                <a:latin typeface="Times New Roman Bold"/>
                <a:ea typeface="Times New Roman Bold"/>
                <a:cs typeface="Times New Roman Bold"/>
                <a:sym typeface="Times New Roman Bold"/>
              </a:rPr>
              <a:t>Моделювання</a:t>
            </a:r>
            <a:r>
              <a:rPr lang="en-US" sz="3600" b="1" dirty="0">
                <a:latin typeface="Times New Roman Bold"/>
                <a:ea typeface="Times New Roman Bold"/>
                <a:cs typeface="Times New Roman Bold"/>
                <a:sym typeface="Times New Roman Bold"/>
              </a:rPr>
              <a:t> </a:t>
            </a:r>
            <a:r>
              <a:rPr lang="en-US" sz="3600" b="1" dirty="0" err="1">
                <a:latin typeface="Times New Roman Bold"/>
                <a:ea typeface="Times New Roman Bold"/>
                <a:cs typeface="Times New Roman Bold"/>
                <a:sym typeface="Times New Roman Bold"/>
              </a:rPr>
              <a:t>прецедентів</a:t>
            </a:r>
            <a:r>
              <a:rPr lang="en-US" sz="3600" b="1" dirty="0">
                <a:latin typeface="Times New Roman Bold"/>
                <a:ea typeface="Times New Roman Bold"/>
                <a:cs typeface="Times New Roman Bold"/>
                <a:sym typeface="Times New Roman Bold"/>
              </a:rPr>
              <a:t> (Use Case)</a:t>
            </a:r>
          </a:p>
        </p:txBody>
      </p:sp>
      <p:sp>
        <p:nvSpPr>
          <p:cNvPr id="4" name="TextBox 4"/>
          <p:cNvSpPr txBox="1"/>
          <p:nvPr/>
        </p:nvSpPr>
        <p:spPr>
          <a:xfrm>
            <a:off x="179601" y="1735710"/>
            <a:ext cx="4392399" cy="1923604"/>
          </a:xfrm>
          <a:prstGeom prst="rect">
            <a:avLst/>
          </a:prstGeom>
        </p:spPr>
        <p:txBody>
          <a:bodyPr lIns="0" tIns="0" rIns="0" bIns="0" rtlCol="0" anchor="t">
            <a:spAutoFit/>
          </a:bodyPr>
          <a:lstStyle/>
          <a:p>
            <a:pPr algn="ctr">
              <a:lnSpc>
                <a:spcPts val="1540"/>
              </a:lnSpc>
              <a:spcBef>
                <a:spcPct val="0"/>
              </a:spcBef>
            </a:pPr>
            <a:r>
              <a:rPr lang="en-US">
                <a:latin typeface="Times New Roman"/>
                <a:ea typeface="Times New Roman"/>
                <a:cs typeface="Times New Roman"/>
                <a:sym typeface="Times New Roman"/>
              </a:rPr>
              <a:t>Візуалізація функціональних вимог та взаємодії користувача з підсистемами.</a:t>
            </a:r>
          </a:p>
          <a:p>
            <a:pPr algn="ctr">
              <a:lnSpc>
                <a:spcPts val="1540"/>
              </a:lnSpc>
              <a:spcBef>
                <a:spcPct val="0"/>
              </a:spcBef>
            </a:pPr>
            <a:endParaRPr lang="en-US">
              <a:latin typeface="Times New Roman"/>
              <a:ea typeface="Times New Roman"/>
              <a:cs typeface="Times New Roman"/>
              <a:sym typeface="Times New Roman"/>
            </a:endParaRPr>
          </a:p>
          <a:p>
            <a:pPr algn="ctr">
              <a:lnSpc>
                <a:spcPts val="1540"/>
              </a:lnSpc>
              <a:spcBef>
                <a:spcPct val="0"/>
              </a:spcBef>
            </a:pPr>
            <a:r>
              <a:rPr lang="en-US">
                <a:latin typeface="Times New Roman"/>
                <a:ea typeface="Times New Roman"/>
                <a:cs typeface="Times New Roman"/>
                <a:sym typeface="Times New Roman"/>
              </a:rPr>
              <a:t>Основний актор: користувач, який має доступ до 7 незалежних модулів (Аутентифікація, Фінанси, Завдання, Настрій, Нотатки, Медія, Аналітика).</a:t>
            </a:r>
          </a:p>
          <a:p>
            <a:pPr algn="ctr">
              <a:lnSpc>
                <a:spcPts val="1540"/>
              </a:lnSpc>
              <a:spcBef>
                <a:spcPct val="0"/>
              </a:spcBef>
            </a:pPr>
            <a:endParaRPr lang="en-US">
              <a:latin typeface="Times New Roman"/>
              <a:ea typeface="Times New Roman"/>
              <a:cs typeface="Times New Roman"/>
              <a:sym typeface="Times New Roman"/>
            </a:endParaRPr>
          </a:p>
          <a:p>
            <a:pPr algn="ctr">
              <a:lnSpc>
                <a:spcPts val="1540"/>
              </a:lnSpc>
              <a:spcBef>
                <a:spcPct val="0"/>
              </a:spcBef>
            </a:pPr>
            <a:r>
              <a:rPr lang="en-US">
                <a:latin typeface="Times New Roman"/>
                <a:ea typeface="Times New Roman"/>
                <a:cs typeface="Times New Roman"/>
                <a:sym typeface="Times New Roman"/>
              </a:rPr>
              <a:t>Зовнішні актори:</a:t>
            </a:r>
          </a:p>
          <a:p>
            <a:pPr algn="ctr">
              <a:lnSpc>
                <a:spcPts val="1540"/>
              </a:lnSpc>
              <a:spcBef>
                <a:spcPct val="0"/>
              </a:spcBef>
            </a:pPr>
            <a:r>
              <a:rPr lang="en-US">
                <a:latin typeface="Times New Roman"/>
                <a:ea typeface="Times New Roman"/>
                <a:cs typeface="Times New Roman"/>
                <a:sym typeface="Times New Roman"/>
              </a:rPr>
              <a:t>API Steam та API Last.fm модуль Медіа-трекера.</a:t>
            </a:r>
          </a:p>
          <a:p>
            <a:pPr algn="ctr">
              <a:lnSpc>
                <a:spcPts val="1540"/>
              </a:lnSpc>
              <a:spcBef>
                <a:spcPct val="0"/>
              </a:spcBef>
            </a:pPr>
            <a:r>
              <a:rPr lang="en-US">
                <a:latin typeface="Times New Roman"/>
                <a:ea typeface="Times New Roman"/>
                <a:cs typeface="Times New Roman"/>
                <a:sym typeface="Times New Roman"/>
              </a:rPr>
              <a:t>Віджет Системи Android для фонового оновлення даних.</a:t>
            </a:r>
          </a:p>
        </p:txBody>
      </p:sp>
      <p:sp>
        <p:nvSpPr>
          <p:cNvPr id="5" name="TextBox 5"/>
          <p:cNvSpPr txBox="1"/>
          <p:nvPr/>
        </p:nvSpPr>
        <p:spPr>
          <a:xfrm>
            <a:off x="403213" y="4283075"/>
            <a:ext cx="222275" cy="576504"/>
          </a:xfrm>
          <a:prstGeom prst="rect">
            <a:avLst/>
          </a:prstGeom>
        </p:spPr>
        <p:txBody>
          <a:bodyPr lIns="0" tIns="0" rIns="0" bIns="0" rtlCol="0" anchor="t">
            <a:spAutoFit/>
          </a:bodyPr>
          <a:lstStyle/>
          <a:p>
            <a:pPr algn="ctr">
              <a:lnSpc>
                <a:spcPts val="4900"/>
              </a:lnSpc>
              <a:spcBef>
                <a:spcPct val="0"/>
              </a:spcBef>
            </a:pPr>
            <a:r>
              <a:rPr lang="en-US" sz="3499" dirty="0">
                <a:latin typeface="Times New Roman"/>
                <a:ea typeface="Times New Roman"/>
                <a:cs typeface="Times New Roman"/>
                <a:sym typeface="Times New Roman"/>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39794" y="287655"/>
            <a:ext cx="5064412" cy="461665"/>
          </a:xfrm>
          <a:prstGeom prst="rect">
            <a:avLst/>
          </a:prstGeom>
        </p:spPr>
        <p:txBody>
          <a:bodyPr lIns="0" tIns="0" rIns="0" bIns="0" rtlCol="0" anchor="t">
            <a:spAutoFit/>
          </a:bodyPr>
          <a:lstStyle/>
          <a:p>
            <a:pPr algn="ctr">
              <a:lnSpc>
                <a:spcPts val="3600"/>
              </a:lnSpc>
              <a:spcBef>
                <a:spcPct val="0"/>
              </a:spcBef>
            </a:pPr>
            <a:r>
              <a:rPr lang="en-US" sz="3600" b="1">
                <a:solidFill>
                  <a:srgbClr val="1C191A"/>
                </a:solidFill>
                <a:latin typeface="Times New Roman Bold"/>
                <a:ea typeface="Times New Roman Bold"/>
                <a:cs typeface="Times New Roman Bold"/>
                <a:sym typeface="Times New Roman Bold"/>
              </a:rPr>
              <a:t>Дизайн системи</a:t>
            </a:r>
          </a:p>
        </p:txBody>
      </p:sp>
      <p:sp>
        <p:nvSpPr>
          <p:cNvPr id="3" name="TextBox 3"/>
          <p:cNvSpPr txBox="1"/>
          <p:nvPr/>
        </p:nvSpPr>
        <p:spPr>
          <a:xfrm>
            <a:off x="780648" y="1188137"/>
            <a:ext cx="7582706" cy="3116238"/>
          </a:xfrm>
          <a:prstGeom prst="rect">
            <a:avLst/>
          </a:prstGeom>
        </p:spPr>
        <p:txBody>
          <a:bodyPr lIns="0" tIns="0" rIns="0" bIns="0" rtlCol="0" anchor="t">
            <a:spAutoFit/>
          </a:bodyPr>
          <a:lstStyle/>
          <a:p>
            <a:pPr>
              <a:lnSpc>
                <a:spcPts val="1600"/>
              </a:lnSpc>
              <a:spcBef>
                <a:spcPct val="0"/>
              </a:spcBef>
            </a:pPr>
            <a:r>
              <a:rPr lang="en-US" sz="1600">
                <a:solidFill>
                  <a:srgbClr val="1C191A"/>
                </a:solidFill>
                <a:latin typeface="Times New Roman"/>
                <a:ea typeface="Times New Roman"/>
                <a:cs typeface="Times New Roman"/>
                <a:sym typeface="Times New Roman"/>
              </a:rPr>
              <a:t>Методи:</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Декларативний підхід до побудови інтерфейсу.</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Дотримання актуальних стандартів Material Design 3.</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Адаптивний дизайн (коректне масштабування карток і списків на різних екранах).</a:t>
            </a:r>
          </a:p>
          <a:p>
            <a:pPr>
              <a:lnSpc>
                <a:spcPts val="1600"/>
              </a:lnSpc>
              <a:spcBef>
                <a:spcPct val="0"/>
              </a:spcBef>
            </a:pPr>
            <a:endParaRPr lang="en-US" sz="1600">
              <a:solidFill>
                <a:srgbClr val="1C191A"/>
              </a:solidFill>
              <a:latin typeface="Times New Roman"/>
              <a:ea typeface="Times New Roman"/>
              <a:cs typeface="Times New Roman"/>
              <a:sym typeface="Times New Roman"/>
            </a:endParaRPr>
          </a:p>
          <a:p>
            <a:pPr>
              <a:lnSpc>
                <a:spcPts val="1600"/>
              </a:lnSpc>
              <a:spcBef>
                <a:spcPct val="0"/>
              </a:spcBef>
            </a:pPr>
            <a:r>
              <a:rPr lang="en-US" sz="1600">
                <a:solidFill>
                  <a:srgbClr val="1C191A"/>
                </a:solidFill>
                <a:latin typeface="Times New Roman"/>
                <a:ea typeface="Times New Roman"/>
                <a:cs typeface="Times New Roman"/>
                <a:sym typeface="Times New Roman"/>
              </a:rPr>
              <a:t>Послідовність:</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Проєктування UX: розробка логіки навігації та системи переходів між екранами.</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Створення UI: верстка базових екранів, дашборду та оптимізованих списків.</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Деталізація: дизайн порожніх станів, кастомних графіків та віджетів.</a:t>
            </a:r>
          </a:p>
          <a:p>
            <a:pPr>
              <a:lnSpc>
                <a:spcPts val="1600"/>
              </a:lnSpc>
              <a:spcBef>
                <a:spcPct val="0"/>
              </a:spcBef>
            </a:pPr>
            <a:endParaRPr lang="en-US" sz="1600">
              <a:solidFill>
                <a:srgbClr val="1C191A"/>
              </a:solidFill>
              <a:latin typeface="Times New Roman"/>
              <a:ea typeface="Times New Roman"/>
              <a:cs typeface="Times New Roman"/>
              <a:sym typeface="Times New Roman"/>
            </a:endParaRPr>
          </a:p>
          <a:p>
            <a:pPr>
              <a:lnSpc>
                <a:spcPts val="1600"/>
              </a:lnSpc>
              <a:spcBef>
                <a:spcPct val="0"/>
              </a:spcBef>
            </a:pPr>
            <a:r>
              <a:rPr lang="en-US" sz="1600">
                <a:solidFill>
                  <a:srgbClr val="1C191A"/>
                </a:solidFill>
                <a:latin typeface="Times New Roman"/>
                <a:ea typeface="Times New Roman"/>
                <a:cs typeface="Times New Roman"/>
                <a:sym typeface="Times New Roman"/>
              </a:rPr>
              <a:t>Технології:</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Jetpack Compose - основний фреймворк для верстки.</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Navigation Compose - реалізація маршрутизації.</a:t>
            </a:r>
          </a:p>
          <a:p>
            <a:pPr marL="345437" lvl="1" indent="-172719">
              <a:lnSpc>
                <a:spcPts val="1600"/>
              </a:lnSpc>
              <a:spcBef>
                <a:spcPct val="0"/>
              </a:spcBef>
              <a:buFont typeface="Arial"/>
              <a:buChar char="•"/>
            </a:pPr>
            <a:r>
              <a:rPr lang="en-US" sz="1600">
                <a:solidFill>
                  <a:srgbClr val="1C191A"/>
                </a:solidFill>
                <a:latin typeface="Times New Roman"/>
                <a:ea typeface="Times New Roman"/>
                <a:cs typeface="Times New Roman"/>
                <a:sym typeface="Times New Roman"/>
              </a:rPr>
              <a:t>Android Canvas API - відмальовування нестандартних діаграм та графіків.</a:t>
            </a:r>
          </a:p>
          <a:p>
            <a:pPr>
              <a:lnSpc>
                <a:spcPts val="1850"/>
              </a:lnSpc>
              <a:spcBef>
                <a:spcPct val="0"/>
              </a:spcBef>
            </a:pPr>
            <a:endParaRPr lang="en-US" sz="1600">
              <a:solidFill>
                <a:srgbClr val="1C191A"/>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273DB001-6A70-337E-E93F-199795531E26}"/>
              </a:ext>
            </a:extLst>
          </p:cNvPr>
          <p:cNvSpPr txBox="1"/>
          <p:nvPr/>
        </p:nvSpPr>
        <p:spPr>
          <a:xfrm>
            <a:off x="295275" y="4304375"/>
            <a:ext cx="390525" cy="646331"/>
          </a:xfrm>
          <a:prstGeom prst="rect">
            <a:avLst/>
          </a:prstGeom>
          <a:noFill/>
        </p:spPr>
        <p:txBody>
          <a:bodyPr wrap="square">
            <a:spAutoFit/>
          </a:bodyPr>
          <a:lstStyle/>
          <a:p>
            <a:r>
              <a:rPr lang="en-US" sz="3500" dirty="0">
                <a:latin typeface="Times New Roman"/>
                <a:ea typeface="Times New Roman"/>
                <a:cs typeface="Times New Roman"/>
                <a:sym typeface="Times New Roman"/>
              </a:rPr>
              <a:t>8</a:t>
            </a:r>
            <a:endParaRPr lang="en-US" sz="3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46221" y="1162870"/>
            <a:ext cx="2741553" cy="3597478"/>
            <a:chOff x="0" y="0"/>
            <a:chExt cx="1444110" cy="1894968"/>
          </a:xfrm>
        </p:grpSpPr>
        <p:sp>
          <p:nvSpPr>
            <p:cNvPr id="3" name="Freeform 3"/>
            <p:cNvSpPr/>
            <p:nvPr/>
          </p:nvSpPr>
          <p:spPr>
            <a:xfrm>
              <a:off x="0" y="0"/>
              <a:ext cx="1444110" cy="1894968"/>
            </a:xfrm>
            <a:custGeom>
              <a:avLst/>
              <a:gdLst/>
              <a:ahLst/>
              <a:cxnLst/>
              <a:rect l="l" t="t" r="r" b="b"/>
              <a:pathLst>
                <a:path w="1444110" h="1894968">
                  <a:moveTo>
                    <a:pt x="0" y="0"/>
                  </a:moveTo>
                  <a:lnTo>
                    <a:pt x="1444110" y="0"/>
                  </a:lnTo>
                  <a:lnTo>
                    <a:pt x="1444110" y="1894968"/>
                  </a:lnTo>
                  <a:lnTo>
                    <a:pt x="0" y="1894968"/>
                  </a:lnTo>
                  <a:close/>
                </a:path>
              </a:pathLst>
            </a:custGeom>
            <a:solidFill>
              <a:srgbClr val="F3F5F8"/>
            </a:solidFill>
          </p:spPr>
        </p:sp>
        <p:sp>
          <p:nvSpPr>
            <p:cNvPr id="4" name="TextBox 4"/>
            <p:cNvSpPr txBox="1"/>
            <p:nvPr/>
          </p:nvSpPr>
          <p:spPr>
            <a:xfrm>
              <a:off x="0" y="-19050"/>
              <a:ext cx="1444110" cy="1914018"/>
            </a:xfrm>
            <a:prstGeom prst="rect">
              <a:avLst/>
            </a:prstGeom>
          </p:spPr>
          <p:txBody>
            <a:bodyPr lIns="25400" tIns="25400" rIns="25400" bIns="25400" rtlCol="0" anchor="ctr"/>
            <a:lstStyle/>
            <a:p>
              <a:pPr algn="ctr">
                <a:lnSpc>
                  <a:spcPts val="1320"/>
                </a:lnSpc>
              </a:pPr>
              <a:endParaRPr sz="700"/>
            </a:p>
          </p:txBody>
        </p:sp>
      </p:grpSp>
      <p:sp>
        <p:nvSpPr>
          <p:cNvPr id="5" name="Freeform 5"/>
          <p:cNvSpPr/>
          <p:nvPr/>
        </p:nvSpPr>
        <p:spPr>
          <a:xfrm>
            <a:off x="1428512" y="1268889"/>
            <a:ext cx="1523448" cy="3385440"/>
          </a:xfrm>
          <a:custGeom>
            <a:avLst/>
            <a:gdLst/>
            <a:ahLst/>
            <a:cxnLst/>
            <a:rect l="l" t="t" r="r" b="b"/>
            <a:pathLst>
              <a:path w="3046896" h="6770880">
                <a:moveTo>
                  <a:pt x="0" y="0"/>
                </a:moveTo>
                <a:lnTo>
                  <a:pt x="3046896" y="0"/>
                </a:lnTo>
                <a:lnTo>
                  <a:pt x="3046896" y="6770880"/>
                </a:lnTo>
                <a:lnTo>
                  <a:pt x="0" y="6770880"/>
                </a:lnTo>
                <a:lnTo>
                  <a:pt x="0" y="0"/>
                </a:lnTo>
                <a:close/>
              </a:path>
            </a:pathLst>
          </a:custGeom>
          <a:blipFill>
            <a:blip r:embed="rId2"/>
            <a:stretch>
              <a:fillRect/>
            </a:stretch>
          </a:blipFill>
        </p:spPr>
      </p:sp>
      <p:grpSp>
        <p:nvGrpSpPr>
          <p:cNvPr id="6" name="Group 6"/>
          <p:cNvGrpSpPr/>
          <p:nvPr/>
        </p:nvGrpSpPr>
        <p:grpSpPr>
          <a:xfrm>
            <a:off x="3201224" y="1162870"/>
            <a:ext cx="2741553" cy="3597478"/>
            <a:chOff x="0" y="0"/>
            <a:chExt cx="1444110" cy="1894968"/>
          </a:xfrm>
        </p:grpSpPr>
        <p:sp>
          <p:nvSpPr>
            <p:cNvPr id="7" name="Freeform 7"/>
            <p:cNvSpPr/>
            <p:nvPr/>
          </p:nvSpPr>
          <p:spPr>
            <a:xfrm>
              <a:off x="0" y="0"/>
              <a:ext cx="1444110" cy="1894968"/>
            </a:xfrm>
            <a:custGeom>
              <a:avLst/>
              <a:gdLst/>
              <a:ahLst/>
              <a:cxnLst/>
              <a:rect l="l" t="t" r="r" b="b"/>
              <a:pathLst>
                <a:path w="1444110" h="1894968">
                  <a:moveTo>
                    <a:pt x="0" y="0"/>
                  </a:moveTo>
                  <a:lnTo>
                    <a:pt x="1444110" y="0"/>
                  </a:lnTo>
                  <a:lnTo>
                    <a:pt x="1444110" y="1894968"/>
                  </a:lnTo>
                  <a:lnTo>
                    <a:pt x="0" y="1894968"/>
                  </a:lnTo>
                  <a:close/>
                </a:path>
              </a:pathLst>
            </a:custGeom>
            <a:solidFill>
              <a:srgbClr val="F3F5F8"/>
            </a:solidFill>
          </p:spPr>
        </p:sp>
        <p:sp>
          <p:nvSpPr>
            <p:cNvPr id="8" name="TextBox 8"/>
            <p:cNvSpPr txBox="1"/>
            <p:nvPr/>
          </p:nvSpPr>
          <p:spPr>
            <a:xfrm>
              <a:off x="0" y="-19050"/>
              <a:ext cx="1444110" cy="1914018"/>
            </a:xfrm>
            <a:prstGeom prst="rect">
              <a:avLst/>
            </a:prstGeom>
          </p:spPr>
          <p:txBody>
            <a:bodyPr lIns="25400" tIns="25400" rIns="25400" bIns="25400" rtlCol="0" anchor="ctr"/>
            <a:lstStyle/>
            <a:p>
              <a:pPr algn="ctr">
                <a:lnSpc>
                  <a:spcPts val="1320"/>
                </a:lnSpc>
              </a:pPr>
              <a:endParaRPr sz="700"/>
            </a:p>
          </p:txBody>
        </p:sp>
      </p:grpSp>
      <p:sp>
        <p:nvSpPr>
          <p:cNvPr id="9" name="Freeform 9"/>
          <p:cNvSpPr/>
          <p:nvPr/>
        </p:nvSpPr>
        <p:spPr>
          <a:xfrm>
            <a:off x="4281816" y="1268889"/>
            <a:ext cx="1512118" cy="3360262"/>
          </a:xfrm>
          <a:custGeom>
            <a:avLst/>
            <a:gdLst/>
            <a:ahLst/>
            <a:cxnLst/>
            <a:rect l="l" t="t" r="r" b="b"/>
            <a:pathLst>
              <a:path w="3024235" h="6720523">
                <a:moveTo>
                  <a:pt x="0" y="0"/>
                </a:moveTo>
                <a:lnTo>
                  <a:pt x="3024235" y="0"/>
                </a:lnTo>
                <a:lnTo>
                  <a:pt x="3024235" y="6720523"/>
                </a:lnTo>
                <a:lnTo>
                  <a:pt x="0" y="6720523"/>
                </a:lnTo>
                <a:lnTo>
                  <a:pt x="0" y="0"/>
                </a:lnTo>
                <a:close/>
              </a:path>
            </a:pathLst>
          </a:custGeom>
          <a:blipFill>
            <a:blip r:embed="rId3"/>
            <a:stretch>
              <a:fillRect/>
            </a:stretch>
          </a:blipFill>
        </p:spPr>
      </p:sp>
      <p:grpSp>
        <p:nvGrpSpPr>
          <p:cNvPr id="10" name="Group 10"/>
          <p:cNvGrpSpPr/>
          <p:nvPr/>
        </p:nvGrpSpPr>
        <p:grpSpPr>
          <a:xfrm>
            <a:off x="6057077" y="1162870"/>
            <a:ext cx="2741553" cy="3597478"/>
            <a:chOff x="0" y="0"/>
            <a:chExt cx="1444110" cy="1894968"/>
          </a:xfrm>
        </p:grpSpPr>
        <p:sp>
          <p:nvSpPr>
            <p:cNvPr id="11" name="Freeform 11"/>
            <p:cNvSpPr/>
            <p:nvPr/>
          </p:nvSpPr>
          <p:spPr>
            <a:xfrm>
              <a:off x="0" y="0"/>
              <a:ext cx="1444110" cy="1894968"/>
            </a:xfrm>
            <a:custGeom>
              <a:avLst/>
              <a:gdLst/>
              <a:ahLst/>
              <a:cxnLst/>
              <a:rect l="l" t="t" r="r" b="b"/>
              <a:pathLst>
                <a:path w="1444110" h="1894968">
                  <a:moveTo>
                    <a:pt x="0" y="0"/>
                  </a:moveTo>
                  <a:lnTo>
                    <a:pt x="1444110" y="0"/>
                  </a:lnTo>
                  <a:lnTo>
                    <a:pt x="1444110" y="1894968"/>
                  </a:lnTo>
                  <a:lnTo>
                    <a:pt x="0" y="1894968"/>
                  </a:lnTo>
                  <a:close/>
                </a:path>
              </a:pathLst>
            </a:custGeom>
            <a:solidFill>
              <a:srgbClr val="F3F5F8"/>
            </a:solidFill>
          </p:spPr>
        </p:sp>
        <p:sp>
          <p:nvSpPr>
            <p:cNvPr id="12" name="TextBox 12"/>
            <p:cNvSpPr txBox="1"/>
            <p:nvPr/>
          </p:nvSpPr>
          <p:spPr>
            <a:xfrm>
              <a:off x="0" y="-19050"/>
              <a:ext cx="1444110" cy="1914018"/>
            </a:xfrm>
            <a:prstGeom prst="rect">
              <a:avLst/>
            </a:prstGeom>
          </p:spPr>
          <p:txBody>
            <a:bodyPr lIns="25400" tIns="25400" rIns="25400" bIns="25400" rtlCol="0" anchor="ctr"/>
            <a:lstStyle/>
            <a:p>
              <a:pPr algn="ctr">
                <a:lnSpc>
                  <a:spcPts val="1320"/>
                </a:lnSpc>
              </a:pPr>
              <a:endParaRPr sz="700"/>
            </a:p>
          </p:txBody>
        </p:sp>
      </p:grpSp>
      <p:sp>
        <p:nvSpPr>
          <p:cNvPr id="13" name="Freeform 13"/>
          <p:cNvSpPr/>
          <p:nvPr/>
        </p:nvSpPr>
        <p:spPr>
          <a:xfrm>
            <a:off x="7138164" y="1268889"/>
            <a:ext cx="1512118" cy="3360262"/>
          </a:xfrm>
          <a:custGeom>
            <a:avLst/>
            <a:gdLst/>
            <a:ahLst/>
            <a:cxnLst/>
            <a:rect l="l" t="t" r="r" b="b"/>
            <a:pathLst>
              <a:path w="3024235" h="6720523">
                <a:moveTo>
                  <a:pt x="0" y="0"/>
                </a:moveTo>
                <a:lnTo>
                  <a:pt x="3024236" y="0"/>
                </a:lnTo>
                <a:lnTo>
                  <a:pt x="3024236" y="6720523"/>
                </a:lnTo>
                <a:lnTo>
                  <a:pt x="0" y="6720523"/>
                </a:lnTo>
                <a:lnTo>
                  <a:pt x="0" y="0"/>
                </a:lnTo>
                <a:close/>
              </a:path>
            </a:pathLst>
          </a:custGeom>
          <a:blipFill>
            <a:blip r:embed="rId4"/>
            <a:stretch>
              <a:fillRect/>
            </a:stretch>
          </a:blipFill>
        </p:spPr>
      </p:sp>
      <p:sp>
        <p:nvSpPr>
          <p:cNvPr id="14" name="TextBox 14"/>
          <p:cNvSpPr txBox="1"/>
          <p:nvPr/>
        </p:nvSpPr>
        <p:spPr>
          <a:xfrm>
            <a:off x="2039794" y="287655"/>
            <a:ext cx="5064412" cy="461665"/>
          </a:xfrm>
          <a:prstGeom prst="rect">
            <a:avLst/>
          </a:prstGeom>
        </p:spPr>
        <p:txBody>
          <a:bodyPr lIns="0" tIns="0" rIns="0" bIns="0" rtlCol="0" anchor="t">
            <a:spAutoFit/>
          </a:bodyPr>
          <a:lstStyle/>
          <a:p>
            <a:pPr>
              <a:lnSpc>
                <a:spcPts val="3600"/>
              </a:lnSpc>
              <a:spcBef>
                <a:spcPct val="0"/>
              </a:spcBef>
            </a:pPr>
            <a:r>
              <a:rPr lang="en-US" sz="3600" b="1">
                <a:solidFill>
                  <a:srgbClr val="1C191A"/>
                </a:solidFill>
                <a:latin typeface="Times New Roman Bold"/>
                <a:ea typeface="Times New Roman Bold"/>
                <a:cs typeface="Times New Roman Bold"/>
                <a:sym typeface="Times New Roman Bold"/>
              </a:rPr>
              <a:t>Демонстрація системи</a:t>
            </a:r>
          </a:p>
        </p:txBody>
      </p:sp>
      <p:sp>
        <p:nvSpPr>
          <p:cNvPr id="15" name="TextBox 15"/>
          <p:cNvSpPr txBox="1"/>
          <p:nvPr/>
        </p:nvSpPr>
        <p:spPr>
          <a:xfrm>
            <a:off x="428661" y="2742534"/>
            <a:ext cx="999851" cy="436017"/>
          </a:xfrm>
          <a:prstGeom prst="rect">
            <a:avLst/>
          </a:prstGeom>
        </p:spPr>
        <p:txBody>
          <a:bodyPr lIns="0" tIns="0" rIns="0" bIns="0" rtlCol="0" anchor="t">
            <a:spAutoFit/>
          </a:bodyPr>
          <a:lstStyle/>
          <a:p>
            <a:pPr>
              <a:lnSpc>
                <a:spcPts val="1650"/>
              </a:lnSpc>
              <a:spcBef>
                <a:spcPct val="0"/>
              </a:spcBef>
            </a:pPr>
            <a:r>
              <a:rPr lang="en-US" sz="1500" b="1">
                <a:solidFill>
                  <a:srgbClr val="C10404"/>
                </a:solidFill>
                <a:latin typeface="Times New Roman Bold"/>
                <a:ea typeface="Times New Roman Bold"/>
                <a:cs typeface="Times New Roman Bold"/>
                <a:sym typeface="Times New Roman Bold"/>
              </a:rPr>
              <a:t>Головний Dashboard</a:t>
            </a:r>
          </a:p>
        </p:txBody>
      </p:sp>
      <p:sp>
        <p:nvSpPr>
          <p:cNvPr id="16" name="TextBox 16"/>
          <p:cNvSpPr txBox="1"/>
          <p:nvPr/>
        </p:nvSpPr>
        <p:spPr>
          <a:xfrm>
            <a:off x="3201224" y="2747296"/>
            <a:ext cx="1148557" cy="436017"/>
          </a:xfrm>
          <a:prstGeom prst="rect">
            <a:avLst/>
          </a:prstGeom>
        </p:spPr>
        <p:txBody>
          <a:bodyPr lIns="0" tIns="0" rIns="0" bIns="0" rtlCol="0" anchor="t">
            <a:spAutoFit/>
          </a:bodyPr>
          <a:lstStyle/>
          <a:p>
            <a:pPr algn="ctr">
              <a:lnSpc>
                <a:spcPts val="1650"/>
              </a:lnSpc>
              <a:spcBef>
                <a:spcPct val="0"/>
              </a:spcBef>
            </a:pPr>
            <a:r>
              <a:rPr lang="en-US" sz="1500" b="1">
                <a:solidFill>
                  <a:srgbClr val="C10404"/>
                </a:solidFill>
                <a:latin typeface="Times New Roman Bold"/>
                <a:ea typeface="Times New Roman Bold"/>
                <a:cs typeface="Times New Roman Bold"/>
                <a:sym typeface="Times New Roman Bold"/>
              </a:rPr>
              <a:t>Гаманець Wallet</a:t>
            </a:r>
          </a:p>
        </p:txBody>
      </p:sp>
      <p:sp>
        <p:nvSpPr>
          <p:cNvPr id="17" name="TextBox 17"/>
          <p:cNvSpPr txBox="1"/>
          <p:nvPr/>
        </p:nvSpPr>
        <p:spPr>
          <a:xfrm>
            <a:off x="6057077" y="2747296"/>
            <a:ext cx="1148557" cy="436017"/>
          </a:xfrm>
          <a:prstGeom prst="rect">
            <a:avLst/>
          </a:prstGeom>
        </p:spPr>
        <p:txBody>
          <a:bodyPr lIns="0" tIns="0" rIns="0" bIns="0" rtlCol="0" anchor="t">
            <a:spAutoFit/>
          </a:bodyPr>
          <a:lstStyle/>
          <a:p>
            <a:pPr algn="ctr">
              <a:lnSpc>
                <a:spcPts val="1650"/>
              </a:lnSpc>
              <a:spcBef>
                <a:spcPct val="0"/>
              </a:spcBef>
            </a:pPr>
            <a:r>
              <a:rPr lang="en-US" sz="1500" b="1">
                <a:solidFill>
                  <a:srgbClr val="C10404"/>
                </a:solidFill>
                <a:latin typeface="Times New Roman Bold"/>
                <a:ea typeface="Times New Roman Bold"/>
                <a:cs typeface="Times New Roman Bold"/>
                <a:sym typeface="Times New Roman Bold"/>
              </a:rPr>
              <a:t>Аналітика Insights</a:t>
            </a:r>
          </a:p>
        </p:txBody>
      </p:sp>
      <p:sp>
        <p:nvSpPr>
          <p:cNvPr id="18" name="TextBox 18"/>
          <p:cNvSpPr txBox="1"/>
          <p:nvPr/>
        </p:nvSpPr>
        <p:spPr>
          <a:xfrm>
            <a:off x="403213" y="4283075"/>
            <a:ext cx="222275" cy="576504"/>
          </a:xfrm>
          <a:prstGeom prst="rect">
            <a:avLst/>
          </a:prstGeom>
        </p:spPr>
        <p:txBody>
          <a:bodyPr lIns="0" tIns="0" rIns="0" bIns="0" rtlCol="0" anchor="t">
            <a:spAutoFit/>
          </a:bodyPr>
          <a:lstStyle/>
          <a:p>
            <a:pPr algn="ctr">
              <a:lnSpc>
                <a:spcPts val="4900"/>
              </a:lnSpc>
              <a:spcBef>
                <a:spcPct val="0"/>
              </a:spcBef>
            </a:pPr>
            <a:r>
              <a:rPr lang="en-US" sz="3499" dirty="0">
                <a:latin typeface="Times New Roman"/>
                <a:ea typeface="Times New Roman"/>
                <a:cs typeface="Times New Roman"/>
                <a:sym typeface="Times New Roman"/>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1070" y="162103"/>
            <a:ext cx="7101862" cy="923330"/>
          </a:xfrm>
          <a:prstGeom prst="rect">
            <a:avLst/>
          </a:prstGeom>
        </p:spPr>
        <p:txBody>
          <a:bodyPr lIns="0" tIns="0" rIns="0" bIns="0" rtlCol="0" anchor="t">
            <a:spAutoFit/>
          </a:bodyPr>
          <a:lstStyle/>
          <a:p>
            <a:pPr algn="ctr">
              <a:lnSpc>
                <a:spcPts val="3600"/>
              </a:lnSpc>
              <a:spcBef>
                <a:spcPct val="0"/>
              </a:spcBef>
            </a:pPr>
            <a:r>
              <a:rPr lang="en-US" sz="3600" b="1">
                <a:solidFill>
                  <a:srgbClr val="1C191A"/>
                </a:solidFill>
                <a:latin typeface="Times New Roman Bold"/>
                <a:ea typeface="Times New Roman Bold"/>
                <a:cs typeface="Times New Roman Bold"/>
                <a:sym typeface="Times New Roman Bold"/>
              </a:rPr>
              <a:t>Тестування програмного забезпечення</a:t>
            </a:r>
          </a:p>
        </p:txBody>
      </p:sp>
      <p:grpSp>
        <p:nvGrpSpPr>
          <p:cNvPr id="3" name="Group 3"/>
          <p:cNvGrpSpPr/>
          <p:nvPr/>
        </p:nvGrpSpPr>
        <p:grpSpPr>
          <a:xfrm>
            <a:off x="729283" y="2855816"/>
            <a:ext cx="1763212" cy="640629"/>
            <a:chOff x="0" y="0"/>
            <a:chExt cx="928770" cy="337450"/>
          </a:xfrm>
        </p:grpSpPr>
        <p:sp>
          <p:nvSpPr>
            <p:cNvPr id="4" name="Freeform 4"/>
            <p:cNvSpPr/>
            <p:nvPr/>
          </p:nvSpPr>
          <p:spPr>
            <a:xfrm>
              <a:off x="0" y="0"/>
              <a:ext cx="928770" cy="337450"/>
            </a:xfrm>
            <a:custGeom>
              <a:avLst/>
              <a:gdLst/>
              <a:ahLst/>
              <a:cxnLst/>
              <a:rect l="l" t="t" r="r" b="b"/>
              <a:pathLst>
                <a:path w="928770" h="337450">
                  <a:moveTo>
                    <a:pt x="160264" y="0"/>
                  </a:moveTo>
                  <a:lnTo>
                    <a:pt x="768506" y="0"/>
                  </a:lnTo>
                  <a:cubicBezTo>
                    <a:pt x="857017" y="0"/>
                    <a:pt x="928770" y="71753"/>
                    <a:pt x="928770" y="160264"/>
                  </a:cubicBezTo>
                  <a:lnTo>
                    <a:pt x="928770" y="177186"/>
                  </a:lnTo>
                  <a:cubicBezTo>
                    <a:pt x="928770" y="265698"/>
                    <a:pt x="857017" y="337450"/>
                    <a:pt x="768506" y="337450"/>
                  </a:cubicBezTo>
                  <a:lnTo>
                    <a:pt x="160264" y="337450"/>
                  </a:lnTo>
                  <a:cubicBezTo>
                    <a:pt x="71753" y="337450"/>
                    <a:pt x="0" y="265698"/>
                    <a:pt x="0" y="177186"/>
                  </a:cubicBezTo>
                  <a:lnTo>
                    <a:pt x="0" y="160264"/>
                  </a:lnTo>
                  <a:cubicBezTo>
                    <a:pt x="0" y="71753"/>
                    <a:pt x="71753" y="0"/>
                    <a:pt x="160264" y="0"/>
                  </a:cubicBezTo>
                  <a:close/>
                </a:path>
              </a:pathLst>
            </a:custGeom>
            <a:ln w="19050" cap="rnd">
              <a:solidFill>
                <a:srgbClr val="1C191A"/>
              </a:solidFill>
              <a:prstDash val="solid"/>
              <a:round/>
            </a:ln>
          </p:spPr>
        </p:sp>
        <p:sp>
          <p:nvSpPr>
            <p:cNvPr id="5" name="TextBox 5"/>
            <p:cNvSpPr txBox="1"/>
            <p:nvPr/>
          </p:nvSpPr>
          <p:spPr>
            <a:xfrm>
              <a:off x="0" y="-57150"/>
              <a:ext cx="928770" cy="394600"/>
            </a:xfrm>
            <a:prstGeom prst="rect">
              <a:avLst/>
            </a:prstGeom>
          </p:spPr>
          <p:txBody>
            <a:bodyPr lIns="25400" tIns="25400" rIns="25400" bIns="25400" rtlCol="0" anchor="ctr"/>
            <a:lstStyle/>
            <a:p>
              <a:pPr algn="ctr">
                <a:lnSpc>
                  <a:spcPts val="1750"/>
                </a:lnSpc>
                <a:spcBef>
                  <a:spcPct val="0"/>
                </a:spcBef>
              </a:pPr>
              <a:r>
                <a:rPr lang="en-US" sz="1250" spc="-25">
                  <a:latin typeface="Times New Roman"/>
                  <a:ea typeface="Times New Roman"/>
                  <a:cs typeface="Times New Roman"/>
                  <a:sym typeface="Times New Roman"/>
                </a:rPr>
                <a:t>Стратегія тестування</a:t>
              </a:r>
            </a:p>
          </p:txBody>
        </p:sp>
      </p:grpSp>
      <p:grpSp>
        <p:nvGrpSpPr>
          <p:cNvPr id="6" name="Group 6"/>
          <p:cNvGrpSpPr/>
          <p:nvPr/>
        </p:nvGrpSpPr>
        <p:grpSpPr>
          <a:xfrm>
            <a:off x="2936265" y="1863268"/>
            <a:ext cx="2372920" cy="2625614"/>
            <a:chOff x="0" y="0"/>
            <a:chExt cx="1249934" cy="1383284"/>
          </a:xfrm>
        </p:grpSpPr>
        <p:sp>
          <p:nvSpPr>
            <p:cNvPr id="7" name="Freeform 7"/>
            <p:cNvSpPr/>
            <p:nvPr/>
          </p:nvSpPr>
          <p:spPr>
            <a:xfrm>
              <a:off x="0" y="0"/>
              <a:ext cx="1249934" cy="1383284"/>
            </a:xfrm>
            <a:custGeom>
              <a:avLst/>
              <a:gdLst/>
              <a:ahLst/>
              <a:cxnLst/>
              <a:rect l="l" t="t" r="r" b="b"/>
              <a:pathLst>
                <a:path w="1249934" h="1383284">
                  <a:moveTo>
                    <a:pt x="1249934" y="39151"/>
                  </a:moveTo>
                  <a:lnTo>
                    <a:pt x="1249934" y="1344133"/>
                  </a:lnTo>
                  <a:cubicBezTo>
                    <a:pt x="1249934" y="1365755"/>
                    <a:pt x="1232405" y="1383284"/>
                    <a:pt x="1210783" y="1383284"/>
                  </a:cubicBezTo>
                  <a:lnTo>
                    <a:pt x="39151" y="1383284"/>
                  </a:lnTo>
                  <a:cubicBezTo>
                    <a:pt x="17529" y="1383284"/>
                    <a:pt x="0" y="1365755"/>
                    <a:pt x="0" y="1344133"/>
                  </a:cubicBezTo>
                  <a:lnTo>
                    <a:pt x="0" y="39151"/>
                  </a:lnTo>
                  <a:cubicBezTo>
                    <a:pt x="0" y="17529"/>
                    <a:pt x="17529" y="0"/>
                    <a:pt x="39151" y="0"/>
                  </a:cubicBezTo>
                  <a:lnTo>
                    <a:pt x="1210783" y="0"/>
                  </a:lnTo>
                  <a:cubicBezTo>
                    <a:pt x="1232405" y="0"/>
                    <a:pt x="1249934" y="17529"/>
                    <a:pt x="1249934" y="39151"/>
                  </a:cubicBezTo>
                  <a:close/>
                </a:path>
              </a:pathLst>
            </a:custGeom>
            <a:ln w="19050" cap="rnd">
              <a:solidFill>
                <a:srgbClr val="1C191A"/>
              </a:solidFill>
              <a:prstDash val="solid"/>
              <a:round/>
            </a:ln>
          </p:spPr>
        </p:sp>
        <p:sp>
          <p:nvSpPr>
            <p:cNvPr id="8" name="TextBox 8"/>
            <p:cNvSpPr txBox="1"/>
            <p:nvPr/>
          </p:nvSpPr>
          <p:spPr>
            <a:xfrm>
              <a:off x="0" y="-76200"/>
              <a:ext cx="1249934" cy="1459484"/>
            </a:xfrm>
            <a:prstGeom prst="rect">
              <a:avLst/>
            </a:prstGeom>
          </p:spPr>
          <p:txBody>
            <a:bodyPr lIns="25400" tIns="25400" rIns="25400" bIns="25400" rtlCol="0" anchor="ctr"/>
            <a:lstStyle/>
            <a:p>
              <a:pPr algn="ctr">
                <a:lnSpc>
                  <a:spcPts val="1400"/>
                </a:lnSpc>
                <a:spcBef>
                  <a:spcPct val="0"/>
                </a:spcBef>
              </a:pPr>
              <a:endParaRPr sz="700"/>
            </a:p>
          </p:txBody>
        </p:sp>
      </p:grpSp>
      <p:grpSp>
        <p:nvGrpSpPr>
          <p:cNvPr id="9" name="Group 9"/>
          <p:cNvGrpSpPr/>
          <p:nvPr/>
        </p:nvGrpSpPr>
        <p:grpSpPr>
          <a:xfrm>
            <a:off x="3255571" y="2113688"/>
            <a:ext cx="1763212" cy="640629"/>
            <a:chOff x="0" y="0"/>
            <a:chExt cx="928770" cy="337450"/>
          </a:xfrm>
        </p:grpSpPr>
        <p:sp>
          <p:nvSpPr>
            <p:cNvPr id="10" name="Freeform 10"/>
            <p:cNvSpPr/>
            <p:nvPr/>
          </p:nvSpPr>
          <p:spPr>
            <a:xfrm>
              <a:off x="0" y="0"/>
              <a:ext cx="928770" cy="337450"/>
            </a:xfrm>
            <a:custGeom>
              <a:avLst/>
              <a:gdLst/>
              <a:ahLst/>
              <a:cxnLst/>
              <a:rect l="l" t="t" r="r" b="b"/>
              <a:pathLst>
                <a:path w="928770" h="337450">
                  <a:moveTo>
                    <a:pt x="160264" y="0"/>
                  </a:moveTo>
                  <a:lnTo>
                    <a:pt x="768506" y="0"/>
                  </a:lnTo>
                  <a:cubicBezTo>
                    <a:pt x="857017" y="0"/>
                    <a:pt x="928770" y="71753"/>
                    <a:pt x="928770" y="160264"/>
                  </a:cubicBezTo>
                  <a:lnTo>
                    <a:pt x="928770" y="177186"/>
                  </a:lnTo>
                  <a:cubicBezTo>
                    <a:pt x="928770" y="265698"/>
                    <a:pt x="857017" y="337450"/>
                    <a:pt x="768506" y="337450"/>
                  </a:cubicBezTo>
                  <a:lnTo>
                    <a:pt x="160264" y="337450"/>
                  </a:lnTo>
                  <a:cubicBezTo>
                    <a:pt x="71753" y="337450"/>
                    <a:pt x="0" y="265698"/>
                    <a:pt x="0" y="177186"/>
                  </a:cubicBezTo>
                  <a:lnTo>
                    <a:pt x="0" y="160264"/>
                  </a:lnTo>
                  <a:cubicBezTo>
                    <a:pt x="0" y="71753"/>
                    <a:pt x="71753" y="0"/>
                    <a:pt x="160264" y="0"/>
                  </a:cubicBezTo>
                  <a:close/>
                </a:path>
              </a:pathLst>
            </a:custGeom>
            <a:solidFill>
              <a:srgbClr val="F3F5F8"/>
            </a:solidFill>
            <a:ln w="19050" cap="rnd">
              <a:solidFill>
                <a:srgbClr val="1C191A"/>
              </a:solidFill>
              <a:prstDash val="solid"/>
              <a:round/>
            </a:ln>
          </p:spPr>
        </p:sp>
        <p:sp>
          <p:nvSpPr>
            <p:cNvPr id="11" name="TextBox 11"/>
            <p:cNvSpPr txBox="1"/>
            <p:nvPr/>
          </p:nvSpPr>
          <p:spPr>
            <a:xfrm>
              <a:off x="0" y="-66675"/>
              <a:ext cx="928770" cy="404125"/>
            </a:xfrm>
            <a:prstGeom prst="rect">
              <a:avLst/>
            </a:prstGeom>
          </p:spPr>
          <p:txBody>
            <a:bodyPr lIns="25400" tIns="25400" rIns="25400" bIns="25400" rtlCol="0" anchor="ctr"/>
            <a:lstStyle/>
            <a:p>
              <a:pPr algn="ctr">
                <a:lnSpc>
                  <a:spcPts val="1610"/>
                </a:lnSpc>
                <a:spcBef>
                  <a:spcPct val="0"/>
                </a:spcBef>
              </a:pPr>
              <a:r>
                <a:rPr lang="en-US" sz="1150" spc="-23">
                  <a:latin typeface="Times New Roman"/>
                  <a:ea typeface="Times New Roman"/>
                  <a:cs typeface="Times New Roman"/>
                  <a:sym typeface="Times New Roman"/>
                </a:rPr>
                <a:t>Функціональне тестування (Бізнес-логіка, валідація)</a:t>
              </a:r>
            </a:p>
          </p:txBody>
        </p:sp>
      </p:grpSp>
      <p:grpSp>
        <p:nvGrpSpPr>
          <p:cNvPr id="12" name="Group 12"/>
          <p:cNvGrpSpPr/>
          <p:nvPr/>
        </p:nvGrpSpPr>
        <p:grpSpPr>
          <a:xfrm>
            <a:off x="3255571" y="3605073"/>
            <a:ext cx="1763212" cy="683996"/>
            <a:chOff x="0" y="0"/>
            <a:chExt cx="928770" cy="360294"/>
          </a:xfrm>
        </p:grpSpPr>
        <p:sp>
          <p:nvSpPr>
            <p:cNvPr id="13" name="Freeform 13"/>
            <p:cNvSpPr/>
            <p:nvPr/>
          </p:nvSpPr>
          <p:spPr>
            <a:xfrm>
              <a:off x="0" y="0"/>
              <a:ext cx="928770" cy="360294"/>
            </a:xfrm>
            <a:custGeom>
              <a:avLst/>
              <a:gdLst/>
              <a:ahLst/>
              <a:cxnLst/>
              <a:rect l="l" t="t" r="r" b="b"/>
              <a:pathLst>
                <a:path w="928770" h="360294">
                  <a:moveTo>
                    <a:pt x="160264" y="0"/>
                  </a:moveTo>
                  <a:lnTo>
                    <a:pt x="768506" y="0"/>
                  </a:lnTo>
                  <a:cubicBezTo>
                    <a:pt x="857017" y="0"/>
                    <a:pt x="928770" y="71753"/>
                    <a:pt x="928770" y="160264"/>
                  </a:cubicBezTo>
                  <a:lnTo>
                    <a:pt x="928770" y="200030"/>
                  </a:lnTo>
                  <a:cubicBezTo>
                    <a:pt x="928770" y="288541"/>
                    <a:pt x="857017" y="360294"/>
                    <a:pt x="768506" y="360294"/>
                  </a:cubicBezTo>
                  <a:lnTo>
                    <a:pt x="160264" y="360294"/>
                  </a:lnTo>
                  <a:cubicBezTo>
                    <a:pt x="71753" y="360294"/>
                    <a:pt x="0" y="288541"/>
                    <a:pt x="0" y="200030"/>
                  </a:cubicBezTo>
                  <a:lnTo>
                    <a:pt x="0" y="160264"/>
                  </a:lnTo>
                  <a:cubicBezTo>
                    <a:pt x="0" y="71753"/>
                    <a:pt x="71753" y="0"/>
                    <a:pt x="160264" y="0"/>
                  </a:cubicBezTo>
                  <a:close/>
                </a:path>
              </a:pathLst>
            </a:custGeom>
            <a:solidFill>
              <a:srgbClr val="F3F5F8"/>
            </a:solidFill>
            <a:ln w="19050" cap="rnd">
              <a:solidFill>
                <a:srgbClr val="1C191A"/>
              </a:solidFill>
              <a:prstDash val="solid"/>
              <a:round/>
            </a:ln>
          </p:spPr>
        </p:sp>
        <p:sp>
          <p:nvSpPr>
            <p:cNvPr id="14" name="TextBox 14"/>
            <p:cNvSpPr txBox="1"/>
            <p:nvPr/>
          </p:nvSpPr>
          <p:spPr>
            <a:xfrm>
              <a:off x="0" y="-66675"/>
              <a:ext cx="928770" cy="426969"/>
            </a:xfrm>
            <a:prstGeom prst="rect">
              <a:avLst/>
            </a:prstGeom>
          </p:spPr>
          <p:txBody>
            <a:bodyPr lIns="25400" tIns="25400" rIns="25400" bIns="25400" rtlCol="0" anchor="ctr"/>
            <a:lstStyle/>
            <a:p>
              <a:pPr algn="ctr">
                <a:lnSpc>
                  <a:spcPts val="1610"/>
                </a:lnSpc>
                <a:spcBef>
                  <a:spcPct val="0"/>
                </a:spcBef>
              </a:pPr>
              <a:r>
                <a:rPr lang="en-US" sz="1150" spc="-23">
                  <a:latin typeface="Times New Roman"/>
                  <a:ea typeface="Times New Roman"/>
                  <a:cs typeface="Times New Roman"/>
                  <a:sym typeface="Times New Roman"/>
                </a:rPr>
                <a:t>UI/UX тестування (Адаптивність, зміна шрифтів)</a:t>
              </a:r>
            </a:p>
          </p:txBody>
        </p:sp>
      </p:grpSp>
      <p:grpSp>
        <p:nvGrpSpPr>
          <p:cNvPr id="15" name="Group 15"/>
          <p:cNvGrpSpPr/>
          <p:nvPr/>
        </p:nvGrpSpPr>
        <p:grpSpPr>
          <a:xfrm>
            <a:off x="5752097" y="2714488"/>
            <a:ext cx="1110966" cy="923285"/>
            <a:chOff x="0" y="0"/>
            <a:chExt cx="585200" cy="486339"/>
          </a:xfrm>
        </p:grpSpPr>
        <p:sp>
          <p:nvSpPr>
            <p:cNvPr id="16" name="Freeform 16"/>
            <p:cNvSpPr/>
            <p:nvPr/>
          </p:nvSpPr>
          <p:spPr>
            <a:xfrm>
              <a:off x="0" y="0"/>
              <a:ext cx="585200" cy="486339"/>
            </a:xfrm>
            <a:custGeom>
              <a:avLst/>
              <a:gdLst/>
              <a:ahLst/>
              <a:cxnLst/>
              <a:rect l="l" t="t" r="r" b="b"/>
              <a:pathLst>
                <a:path w="585200" h="486339">
                  <a:moveTo>
                    <a:pt x="243170" y="0"/>
                  </a:moveTo>
                  <a:lnTo>
                    <a:pt x="342030" y="0"/>
                  </a:lnTo>
                  <a:cubicBezTo>
                    <a:pt x="406523" y="0"/>
                    <a:pt x="468374" y="25620"/>
                    <a:pt x="513977" y="71223"/>
                  </a:cubicBezTo>
                  <a:cubicBezTo>
                    <a:pt x="559580" y="116826"/>
                    <a:pt x="585200" y="178677"/>
                    <a:pt x="585200" y="243170"/>
                  </a:cubicBezTo>
                  <a:lnTo>
                    <a:pt x="585200" y="243170"/>
                  </a:lnTo>
                  <a:cubicBezTo>
                    <a:pt x="585200" y="307662"/>
                    <a:pt x="559580" y="369513"/>
                    <a:pt x="513977" y="415117"/>
                  </a:cubicBezTo>
                  <a:cubicBezTo>
                    <a:pt x="468374" y="460720"/>
                    <a:pt x="406523" y="486339"/>
                    <a:pt x="342030" y="486339"/>
                  </a:cubicBezTo>
                  <a:lnTo>
                    <a:pt x="243170" y="486339"/>
                  </a:lnTo>
                  <a:cubicBezTo>
                    <a:pt x="178677" y="486339"/>
                    <a:pt x="116826" y="460720"/>
                    <a:pt x="71223" y="415117"/>
                  </a:cubicBezTo>
                  <a:cubicBezTo>
                    <a:pt x="25620" y="369513"/>
                    <a:pt x="0" y="307662"/>
                    <a:pt x="0" y="243170"/>
                  </a:cubicBezTo>
                  <a:lnTo>
                    <a:pt x="0" y="243170"/>
                  </a:lnTo>
                  <a:cubicBezTo>
                    <a:pt x="0" y="178677"/>
                    <a:pt x="25620" y="116826"/>
                    <a:pt x="71223" y="71223"/>
                  </a:cubicBezTo>
                  <a:cubicBezTo>
                    <a:pt x="116826" y="25620"/>
                    <a:pt x="178677" y="0"/>
                    <a:pt x="243170" y="0"/>
                  </a:cubicBezTo>
                  <a:close/>
                </a:path>
              </a:pathLst>
            </a:custGeom>
            <a:ln w="19050" cap="rnd">
              <a:solidFill>
                <a:srgbClr val="1C191A"/>
              </a:solidFill>
              <a:prstDash val="solid"/>
              <a:round/>
            </a:ln>
          </p:spPr>
        </p:sp>
        <p:sp>
          <p:nvSpPr>
            <p:cNvPr id="17" name="TextBox 17"/>
            <p:cNvSpPr txBox="1"/>
            <p:nvPr/>
          </p:nvSpPr>
          <p:spPr>
            <a:xfrm>
              <a:off x="0" y="17294"/>
              <a:ext cx="585200" cy="469045"/>
            </a:xfrm>
            <a:prstGeom prst="rect">
              <a:avLst/>
            </a:prstGeom>
          </p:spPr>
          <p:txBody>
            <a:bodyPr lIns="25400" tIns="25400" rIns="25400" bIns="25400" rtlCol="0" anchor="ctr"/>
            <a:lstStyle/>
            <a:p>
              <a:pPr algn="ctr">
                <a:lnSpc>
                  <a:spcPts val="1680"/>
                </a:lnSpc>
                <a:spcBef>
                  <a:spcPct val="0"/>
                </a:spcBef>
              </a:pPr>
              <a:r>
                <a:rPr lang="en-US" sz="1200" spc="-24" dirty="0" err="1">
                  <a:latin typeface="Times New Roman"/>
                  <a:ea typeface="Times New Roman"/>
                  <a:cs typeface="Times New Roman"/>
                  <a:sym typeface="Times New Roman"/>
                </a:rPr>
                <a:t>Тестування</a:t>
              </a:r>
              <a:r>
                <a:rPr lang="en-US" sz="1200" spc="-24" dirty="0">
                  <a:latin typeface="Times New Roman"/>
                  <a:ea typeface="Times New Roman"/>
                  <a:cs typeface="Times New Roman"/>
                  <a:sym typeface="Times New Roman"/>
                </a:rPr>
                <a:t> </a:t>
              </a:r>
              <a:r>
                <a:rPr lang="en-US" sz="1200" spc="-24" dirty="0" err="1">
                  <a:latin typeface="Times New Roman"/>
                  <a:ea typeface="Times New Roman"/>
                  <a:cs typeface="Times New Roman"/>
                  <a:sym typeface="Times New Roman"/>
                </a:rPr>
                <a:t>інтеграцій</a:t>
              </a:r>
              <a:r>
                <a:rPr lang="en-US" sz="1200" spc="-24" dirty="0">
                  <a:latin typeface="Times New Roman"/>
                  <a:ea typeface="Times New Roman"/>
                  <a:cs typeface="Times New Roman"/>
                  <a:sym typeface="Times New Roman"/>
                </a:rPr>
                <a:t> (</a:t>
              </a:r>
              <a:r>
                <a:rPr lang="en-US" sz="1200" spc="-24" dirty="0" err="1">
                  <a:latin typeface="Times New Roman"/>
                  <a:ea typeface="Times New Roman"/>
                  <a:cs typeface="Times New Roman"/>
                  <a:sym typeface="Times New Roman"/>
                </a:rPr>
                <a:t>Віджети</a:t>
              </a:r>
              <a:r>
                <a:rPr lang="en-US" sz="1200" spc="-24" dirty="0">
                  <a:latin typeface="Times New Roman"/>
                  <a:ea typeface="Times New Roman"/>
                  <a:cs typeface="Times New Roman"/>
                  <a:sym typeface="Times New Roman"/>
                </a:rPr>
                <a:t>, API, Firebase)</a:t>
              </a:r>
            </a:p>
          </p:txBody>
        </p:sp>
      </p:grpSp>
      <p:grpSp>
        <p:nvGrpSpPr>
          <p:cNvPr id="18" name="Group 18"/>
          <p:cNvGrpSpPr/>
          <p:nvPr/>
        </p:nvGrpSpPr>
        <p:grpSpPr>
          <a:xfrm>
            <a:off x="7305975" y="2819263"/>
            <a:ext cx="1110966" cy="713735"/>
            <a:chOff x="0" y="0"/>
            <a:chExt cx="585200" cy="375959"/>
          </a:xfrm>
        </p:grpSpPr>
        <p:sp>
          <p:nvSpPr>
            <p:cNvPr id="19" name="Freeform 19"/>
            <p:cNvSpPr/>
            <p:nvPr/>
          </p:nvSpPr>
          <p:spPr>
            <a:xfrm>
              <a:off x="0" y="0"/>
              <a:ext cx="585200" cy="375959"/>
            </a:xfrm>
            <a:custGeom>
              <a:avLst/>
              <a:gdLst/>
              <a:ahLst/>
              <a:cxnLst/>
              <a:rect l="l" t="t" r="r" b="b"/>
              <a:pathLst>
                <a:path w="585200" h="375959">
                  <a:moveTo>
                    <a:pt x="187980" y="0"/>
                  </a:moveTo>
                  <a:lnTo>
                    <a:pt x="397221" y="0"/>
                  </a:lnTo>
                  <a:cubicBezTo>
                    <a:pt x="447076" y="0"/>
                    <a:pt x="494889" y="19805"/>
                    <a:pt x="530142" y="55058"/>
                  </a:cubicBezTo>
                  <a:cubicBezTo>
                    <a:pt x="565395" y="90311"/>
                    <a:pt x="585200" y="138124"/>
                    <a:pt x="585200" y="187980"/>
                  </a:cubicBezTo>
                  <a:lnTo>
                    <a:pt x="585200" y="187980"/>
                  </a:lnTo>
                  <a:cubicBezTo>
                    <a:pt x="585200" y="237835"/>
                    <a:pt x="565395" y="285648"/>
                    <a:pt x="530142" y="320901"/>
                  </a:cubicBezTo>
                  <a:cubicBezTo>
                    <a:pt x="494889" y="356154"/>
                    <a:pt x="447076" y="375959"/>
                    <a:pt x="397221" y="375959"/>
                  </a:cubicBezTo>
                  <a:lnTo>
                    <a:pt x="187980" y="375959"/>
                  </a:lnTo>
                  <a:cubicBezTo>
                    <a:pt x="138124" y="375959"/>
                    <a:pt x="90311" y="356154"/>
                    <a:pt x="55058" y="320901"/>
                  </a:cubicBezTo>
                  <a:cubicBezTo>
                    <a:pt x="19805" y="285648"/>
                    <a:pt x="0" y="237835"/>
                    <a:pt x="0" y="187980"/>
                  </a:cubicBezTo>
                  <a:lnTo>
                    <a:pt x="0" y="187980"/>
                  </a:lnTo>
                  <a:cubicBezTo>
                    <a:pt x="0" y="138124"/>
                    <a:pt x="19805" y="90311"/>
                    <a:pt x="55058" y="55058"/>
                  </a:cubicBezTo>
                  <a:cubicBezTo>
                    <a:pt x="90311" y="19805"/>
                    <a:pt x="138124" y="0"/>
                    <a:pt x="187980" y="0"/>
                  </a:cubicBezTo>
                  <a:close/>
                </a:path>
              </a:pathLst>
            </a:custGeom>
            <a:ln w="19050" cap="rnd">
              <a:solidFill>
                <a:srgbClr val="1C191A"/>
              </a:solidFill>
              <a:prstDash val="solid"/>
              <a:round/>
            </a:ln>
          </p:spPr>
        </p:sp>
        <p:sp>
          <p:nvSpPr>
            <p:cNvPr id="20" name="TextBox 20"/>
            <p:cNvSpPr txBox="1"/>
            <p:nvPr/>
          </p:nvSpPr>
          <p:spPr>
            <a:xfrm>
              <a:off x="0" y="-57150"/>
              <a:ext cx="585200" cy="433109"/>
            </a:xfrm>
            <a:prstGeom prst="rect">
              <a:avLst/>
            </a:prstGeom>
          </p:spPr>
          <p:txBody>
            <a:bodyPr lIns="25400" tIns="25400" rIns="25400" bIns="25400" rtlCol="0" anchor="ctr"/>
            <a:lstStyle/>
            <a:p>
              <a:pPr algn="ctr">
                <a:lnSpc>
                  <a:spcPts val="1680"/>
                </a:lnSpc>
                <a:spcBef>
                  <a:spcPct val="0"/>
                </a:spcBef>
              </a:pPr>
              <a:r>
                <a:rPr lang="en-US" sz="1200" spc="-24">
                  <a:latin typeface="Times New Roman"/>
                  <a:ea typeface="Times New Roman"/>
                  <a:cs typeface="Times New Roman"/>
                  <a:sym typeface="Times New Roman"/>
                </a:rPr>
                <a:t>Стабільний реліз (Готовий AAB-білд)</a:t>
              </a:r>
            </a:p>
          </p:txBody>
        </p:sp>
      </p:grpSp>
      <p:sp>
        <p:nvSpPr>
          <p:cNvPr id="21" name="AutoShape 21"/>
          <p:cNvSpPr/>
          <p:nvPr/>
        </p:nvSpPr>
        <p:spPr>
          <a:xfrm>
            <a:off x="2492495" y="3176131"/>
            <a:ext cx="443770" cy="0"/>
          </a:xfrm>
          <a:prstGeom prst="line">
            <a:avLst/>
          </a:prstGeom>
          <a:ln w="19050" cap="flat">
            <a:solidFill>
              <a:srgbClr val="1C191A"/>
            </a:solidFill>
            <a:prstDash val="solid"/>
            <a:headEnd type="none" w="sm" len="sm"/>
            <a:tailEnd type="none" w="sm" len="sm"/>
          </a:ln>
        </p:spPr>
      </p:sp>
      <p:sp>
        <p:nvSpPr>
          <p:cNvPr id="22" name="AutoShape 22"/>
          <p:cNvSpPr/>
          <p:nvPr/>
        </p:nvSpPr>
        <p:spPr>
          <a:xfrm>
            <a:off x="5308327" y="3176131"/>
            <a:ext cx="443770" cy="0"/>
          </a:xfrm>
          <a:prstGeom prst="line">
            <a:avLst/>
          </a:prstGeom>
          <a:ln w="19050" cap="flat">
            <a:solidFill>
              <a:srgbClr val="1C191A"/>
            </a:solidFill>
            <a:prstDash val="solid"/>
            <a:headEnd type="none" w="sm" len="sm"/>
            <a:tailEnd type="none" w="sm" len="sm"/>
          </a:ln>
        </p:spPr>
      </p:sp>
      <p:sp>
        <p:nvSpPr>
          <p:cNvPr id="23" name="AutoShape 23"/>
          <p:cNvSpPr/>
          <p:nvPr/>
        </p:nvSpPr>
        <p:spPr>
          <a:xfrm>
            <a:off x="6863063" y="3176131"/>
            <a:ext cx="443770" cy="0"/>
          </a:xfrm>
          <a:prstGeom prst="line">
            <a:avLst/>
          </a:prstGeom>
          <a:ln w="19050" cap="flat">
            <a:solidFill>
              <a:srgbClr val="1C191A"/>
            </a:solidFill>
            <a:prstDash val="solid"/>
            <a:headEnd type="none" w="sm" len="sm"/>
            <a:tailEnd type="none" w="sm" len="sm"/>
          </a:ln>
        </p:spPr>
      </p:sp>
      <p:sp>
        <p:nvSpPr>
          <p:cNvPr id="24" name="TextBox 24"/>
          <p:cNvSpPr txBox="1"/>
          <p:nvPr/>
        </p:nvSpPr>
        <p:spPr>
          <a:xfrm>
            <a:off x="403213" y="4283075"/>
            <a:ext cx="530237" cy="576504"/>
          </a:xfrm>
          <a:prstGeom prst="rect">
            <a:avLst/>
          </a:prstGeom>
        </p:spPr>
        <p:txBody>
          <a:bodyPr wrap="square" lIns="0" tIns="0" rIns="0" bIns="0" rtlCol="0" anchor="t">
            <a:spAutoFit/>
          </a:bodyPr>
          <a:lstStyle/>
          <a:p>
            <a:pPr algn="ctr">
              <a:lnSpc>
                <a:spcPts val="4900"/>
              </a:lnSpc>
              <a:spcBef>
                <a:spcPct val="0"/>
              </a:spcBef>
            </a:pPr>
            <a:r>
              <a:rPr lang="en-US" sz="3499" dirty="0">
                <a:latin typeface="Times New Roman"/>
                <a:ea typeface="Times New Roman"/>
                <a:cs typeface="Times New Roman"/>
                <a:sym typeface="Times New Roman"/>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1698" y="273368"/>
            <a:ext cx="8629650" cy="4584502"/>
          </a:xfrm>
          <a:custGeom>
            <a:avLst/>
            <a:gdLst/>
            <a:ahLst/>
            <a:cxnLst/>
            <a:rect l="l" t="t" r="r" b="b"/>
            <a:pathLst>
              <a:path w="17259300" h="9169003">
                <a:moveTo>
                  <a:pt x="0" y="0"/>
                </a:moveTo>
                <a:lnTo>
                  <a:pt x="17259300" y="0"/>
                </a:lnTo>
                <a:lnTo>
                  <a:pt x="17259300" y="9169003"/>
                </a:lnTo>
                <a:lnTo>
                  <a:pt x="0" y="916900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3474054" y="-38173"/>
            <a:ext cx="2084937" cy="589072"/>
          </a:xfrm>
          <a:prstGeom prst="rect">
            <a:avLst/>
          </a:prstGeom>
        </p:spPr>
        <p:txBody>
          <a:bodyPr lIns="0" tIns="0" rIns="0" bIns="0" rtlCol="0" anchor="t">
            <a:spAutoFit/>
          </a:bodyPr>
          <a:lstStyle/>
          <a:p>
            <a:pPr>
              <a:lnSpc>
                <a:spcPts val="5040"/>
              </a:lnSpc>
              <a:spcBef>
                <a:spcPct val="0"/>
              </a:spcBef>
            </a:pPr>
            <a:r>
              <a:rPr lang="uk" sz="3600" b="1" dirty="0">
                <a:latin typeface="Times New Roman" panose="02020603050405020304" pitchFamily="18" charset="0"/>
                <a:cs typeface="Times New Roman" panose="02020603050405020304" pitchFamily="18" charset="0"/>
              </a:rPr>
              <a:t>Підсумки</a:t>
            </a:r>
            <a:endParaRPr lang="en-US" sz="3600" b="1" dirty="0">
              <a:latin typeface="Times New Roman" panose="02020603050405020304" pitchFamily="18" charset="0"/>
              <a:ea typeface="Times New Roman Bold"/>
              <a:cs typeface="Times New Roman" panose="02020603050405020304" pitchFamily="18" charset="0"/>
              <a:sym typeface="Times New Roman Bold"/>
            </a:endParaRPr>
          </a:p>
        </p:txBody>
      </p:sp>
      <p:sp>
        <p:nvSpPr>
          <p:cNvPr id="4" name="TextBox 4"/>
          <p:cNvSpPr txBox="1"/>
          <p:nvPr/>
        </p:nvSpPr>
        <p:spPr>
          <a:xfrm>
            <a:off x="1363161" y="1524452"/>
            <a:ext cx="6306724" cy="2180084"/>
          </a:xfrm>
          <a:prstGeom prst="rect">
            <a:avLst/>
          </a:prstGeom>
        </p:spPr>
        <p:txBody>
          <a:bodyPr lIns="0" tIns="0" rIns="0" bIns="0" rtlCol="0" anchor="t">
            <a:spAutoFit/>
          </a:bodyPr>
          <a:lstStyle/>
          <a:p>
            <a:pPr algn="ctr">
              <a:lnSpc>
                <a:spcPts val="1650"/>
              </a:lnSpc>
              <a:spcBef>
                <a:spcPct val="0"/>
              </a:spcBef>
            </a:pPr>
            <a:r>
              <a:rPr lang="en-US" sz="1500">
                <a:latin typeface="Times New Roman"/>
                <a:ea typeface="Times New Roman"/>
                <a:cs typeface="Times New Roman"/>
                <a:sym typeface="Times New Roman"/>
              </a:rPr>
              <a:t>Мета дипломної роботи досягнуто в повному обсязі - створено сучасний нативний додаток LifeHub. Виконано всі етапи розробки: від побудови архітектури та проєктування БД до налаштування системних інтеграцій та підготовки релізного файлу.</a:t>
            </a:r>
          </a:p>
          <a:p>
            <a:pPr algn="ctr">
              <a:lnSpc>
                <a:spcPts val="1650"/>
              </a:lnSpc>
              <a:spcBef>
                <a:spcPct val="0"/>
              </a:spcBef>
            </a:pPr>
            <a:endParaRPr lang="en-US" sz="1500">
              <a:latin typeface="Times New Roman"/>
              <a:ea typeface="Times New Roman"/>
              <a:cs typeface="Times New Roman"/>
              <a:sym typeface="Times New Roman"/>
            </a:endParaRPr>
          </a:p>
          <a:p>
            <a:pPr algn="ctr">
              <a:lnSpc>
                <a:spcPts val="1650"/>
              </a:lnSpc>
              <a:spcBef>
                <a:spcPct val="0"/>
              </a:spcBef>
            </a:pPr>
            <a:r>
              <a:rPr lang="en-US" sz="1500">
                <a:latin typeface="Times New Roman"/>
                <a:ea typeface="Times New Roman"/>
                <a:cs typeface="Times New Roman"/>
                <a:sym typeface="Times New Roman"/>
              </a:rPr>
              <a:t>Отриманий продукт готовий до реального використання. Він успішно вирішує проблему оптимізації повсякденної рутини, надаючи користувачеві єдиний зручний інструмент для комплексного контролю за своїми фінансами, завданнями та цифровою гігієною без необхідності перемикатися між різними програмами.</a:t>
            </a:r>
          </a:p>
        </p:txBody>
      </p:sp>
      <p:sp>
        <p:nvSpPr>
          <p:cNvPr id="5" name="TextBox 5"/>
          <p:cNvSpPr txBox="1"/>
          <p:nvPr/>
        </p:nvSpPr>
        <p:spPr>
          <a:xfrm>
            <a:off x="292075" y="4283075"/>
            <a:ext cx="444550" cy="576504"/>
          </a:xfrm>
          <a:prstGeom prst="rect">
            <a:avLst/>
          </a:prstGeom>
        </p:spPr>
        <p:txBody>
          <a:bodyPr lIns="0" tIns="0" rIns="0" bIns="0" rtlCol="0" anchor="t">
            <a:spAutoFit/>
          </a:bodyPr>
          <a:lstStyle/>
          <a:p>
            <a:pPr algn="ctr">
              <a:lnSpc>
                <a:spcPts val="4900"/>
              </a:lnSpc>
              <a:spcBef>
                <a:spcPct val="0"/>
              </a:spcBef>
            </a:pPr>
            <a:r>
              <a:rPr lang="en-US" sz="3499" dirty="0">
                <a:latin typeface="Times New Roman"/>
                <a:ea typeface="Times New Roman"/>
                <a:cs typeface="Times New Roman"/>
                <a:sym typeface="Times New Roman"/>
              </a:rPr>
              <a:t>11</a:t>
            </a:r>
          </a:p>
        </p:txBody>
      </p:sp>
    </p:spTree>
  </p:cSld>
  <p:clrMapOvr>
    <a:masterClrMapping/>
  </p:clrMapOvr>
</p:sld>
</file>

<file path=ppt/theme/theme1.xml><?xml version="1.0" encoding="utf-8"?>
<a:theme xmlns:a="http://schemas.openxmlformats.org/drawingml/2006/main" name="Шаблон презентації кваліфікаційної роботи магістрів">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Шаблон презентації кваліфікаційної роботи магістрів" id="{72E840FA-3155-46C9-BB37-701E4C9B1C67}" vid="{DC416FE5-D050-4603-AD75-8F49A0CCCB6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Шаблон презентації до кв_р_бакалавра-2025</Template>
  <TotalTime>25</TotalTime>
  <Words>742</Words>
  <Application>Microsoft Office PowerPoint</Application>
  <PresentationFormat>Екран (16:9)</PresentationFormat>
  <Paragraphs>102</Paragraphs>
  <Slides>11</Slides>
  <Notes>1</Notes>
  <HiddenSlides>0</HiddenSlides>
  <MMClips>0</MMClips>
  <ScaleCrop>false</ScaleCrop>
  <HeadingPairs>
    <vt:vector size="6" baseType="variant">
      <vt:variant>
        <vt:lpstr>Використані шрифти</vt:lpstr>
      </vt:variant>
      <vt:variant>
        <vt:i4>7</vt:i4>
      </vt:variant>
      <vt:variant>
        <vt:lpstr>Тема</vt:lpstr>
      </vt:variant>
      <vt:variant>
        <vt:i4>1</vt:i4>
      </vt:variant>
      <vt:variant>
        <vt:lpstr>Заголовки слайдів</vt:lpstr>
      </vt:variant>
      <vt:variant>
        <vt:i4>11</vt:i4>
      </vt:variant>
    </vt:vector>
  </HeadingPairs>
  <TitlesOfParts>
    <vt:vector size="19" baseType="lpstr">
      <vt:lpstr>Open Sans</vt:lpstr>
      <vt:lpstr>Times New Roman</vt:lpstr>
      <vt:lpstr>Arial</vt:lpstr>
      <vt:lpstr>Codec Pro Bold</vt:lpstr>
      <vt:lpstr>Codec Pro Light</vt:lpstr>
      <vt:lpstr>Times New Roman Bold</vt:lpstr>
      <vt:lpstr>Economica</vt:lpstr>
      <vt:lpstr>Шаблон презентації кваліфікаційної роботи магістрів</vt:lpstr>
      <vt:lpstr>Тема роботи </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Serhii Kryvoshapko</dc:creator>
  <cp:lastModifiedBy>Serhii Kryvoshapko</cp:lastModifiedBy>
  <cp:revision>4</cp:revision>
  <dcterms:created xsi:type="dcterms:W3CDTF">2026-06-19T11:00:32Z</dcterms:created>
  <dcterms:modified xsi:type="dcterms:W3CDTF">2026-06-23T09:25:44Z</dcterms:modified>
</cp:coreProperties>
</file>